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libri (MS) Bold" charset="1" panose="020F0702030404030204"/>
      <p:regular r:id="rId20"/>
    </p:embeddedFont>
    <p:embeddedFont>
      <p:font typeface="Calibri (MS)" charset="1" panose="020F0502020204030204"/>
      <p:regular r:id="rId21"/>
    </p:embeddedFont>
    <p:embeddedFont>
      <p:font typeface="Calibri (MS) Italics" charset="1" panose="020F05020202040A0204"/>
      <p:regular r:id="rId22"/>
    </p:embeddedFont>
    <p:embeddedFont>
      <p:font typeface="Consolas" charset="1" panose="020B0609020204030204"/>
      <p:regular r:id="rId23"/>
    </p:embeddedFont>
    <p:embeddedFont>
      <p:font typeface="Consolas Italics" charset="1" panose="020B06090202040A0204"/>
      <p:regular r:id="rId24"/>
    </p:embeddedFont>
    <p:embeddedFont>
      <p:font typeface="Consolas Bold" charset="1" panose="020B070902020403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575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F1E2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01381" y="2051494"/>
            <a:ext cx="13543845" cy="160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9"/>
              </a:lnSpc>
            </a:pPr>
            <a:r>
              <a:rPr lang="en-US" sz="9607" b="true">
                <a:solidFill>
                  <a:srgbClr val="00C9A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LLM Guided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01381" y="3424171"/>
            <a:ext cx="13543845" cy="160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9"/>
              </a:lnSpc>
            </a:pPr>
            <a:r>
              <a:rPr lang="en-US" sz="9607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Protocol Fuzzing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09941" y="5271626"/>
            <a:ext cx="9157947" cy="74928"/>
            <a:chOff x="0" y="0"/>
            <a:chExt cx="10066261" cy="82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66274" cy="82423"/>
            </a:xfrm>
            <a:custGeom>
              <a:avLst/>
              <a:gdLst/>
              <a:ahLst/>
              <a:cxnLst/>
              <a:rect r="r" b="b" t="t" l="l"/>
              <a:pathLst>
                <a:path h="82423" w="10066274">
                  <a:moveTo>
                    <a:pt x="0" y="0"/>
                  </a:moveTo>
                  <a:lnTo>
                    <a:pt x="10066274" y="0"/>
                  </a:lnTo>
                  <a:lnTo>
                    <a:pt x="10066274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00C9A7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09941" y="5537054"/>
            <a:ext cx="1345240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6"/>
              </a:lnSpc>
            </a:pPr>
            <a:r>
              <a:rPr lang="en-US" sz="2238">
                <a:solidFill>
                  <a:srgbClr val="7A90A8"/>
                </a:solidFill>
                <a:latin typeface="Calibri (MS)"/>
                <a:ea typeface="Calibri (MS)"/>
                <a:cs typeface="Calibri (MS)"/>
                <a:sym typeface="Calibri (MS)"/>
              </a:rPr>
              <a:t>Course:</a:t>
            </a:r>
            <a:r>
              <a:rPr lang="en-US" sz="2238">
                <a:solidFill>
                  <a:srgbClr val="7A90A8"/>
                </a:solidFill>
                <a:latin typeface="Calibri (MS)"/>
                <a:ea typeface="Calibri (MS)"/>
                <a:cs typeface="Calibri (MS)"/>
                <a:sym typeface="Calibri (MS)"/>
              </a:rPr>
              <a:t>Computer Network Security (22CPT310)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49842" y="9763115"/>
            <a:ext cx="915257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4A5A6A"/>
                </a:solidFill>
                <a:latin typeface="Calibri (MS)"/>
                <a:ea typeface="Calibri (MS)"/>
                <a:cs typeface="Calibri (MS)"/>
                <a:sym typeface="Calibri (MS)"/>
              </a:rPr>
              <a:t>1 / 17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09941" y="6413354"/>
            <a:ext cx="1354384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1"/>
              </a:lnSpc>
            </a:pPr>
            <a:r>
              <a:rPr lang="en-US" sz="2251">
                <a:solidFill>
                  <a:srgbClr val="7A90A8"/>
                </a:solidFill>
                <a:latin typeface="Calibri (MS)"/>
                <a:ea typeface="Calibri (MS)"/>
                <a:cs typeface="Calibri (MS)"/>
                <a:sym typeface="Calibri (MS)"/>
              </a:rPr>
              <a:t>Name: Akshay Kumar Mina</a:t>
            </a:r>
          </a:p>
          <a:p>
            <a:pPr algn="l">
              <a:lnSpc>
                <a:spcPts val="2701"/>
              </a:lnSpc>
            </a:pPr>
            <a:r>
              <a:rPr lang="en-US" sz="2251">
                <a:solidFill>
                  <a:srgbClr val="7A90A8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 ID: 2023UCP1661</a:t>
            </a:r>
          </a:p>
          <a:p>
            <a:pPr algn="l">
              <a:lnSpc>
                <a:spcPts val="2701"/>
              </a:lnSpc>
            </a:pPr>
            <a:r>
              <a:rPr lang="en-US" sz="2251">
                <a:solidFill>
                  <a:srgbClr val="7A90A8"/>
                </a:solidFill>
                <a:latin typeface="Calibri (MS)"/>
                <a:ea typeface="Calibri (MS)"/>
                <a:cs typeface="Calibri (MS)"/>
                <a:sym typeface="Calibri (MS)"/>
              </a:rPr>
              <a:t>Batch: A3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919744"/>
            <a:ext cx="12171169" cy="98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true">
                <a:solidFill>
                  <a:srgbClr val="1B2A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is Fuzzing?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81571" y="2122875"/>
            <a:ext cx="16893407" cy="1450838"/>
            <a:chOff x="0" y="0"/>
            <a:chExt cx="22524542" cy="19344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" y="6350"/>
              <a:ext cx="22511893" cy="1921764"/>
            </a:xfrm>
            <a:custGeom>
              <a:avLst/>
              <a:gdLst/>
              <a:ahLst/>
              <a:cxnLst/>
              <a:rect r="r" b="b" t="t" l="l"/>
              <a:pathLst>
                <a:path h="1921764" w="22511893">
                  <a:moveTo>
                    <a:pt x="0" y="0"/>
                  </a:moveTo>
                  <a:lnTo>
                    <a:pt x="22511893" y="0"/>
                  </a:lnTo>
                  <a:lnTo>
                    <a:pt x="22511893" y="1921764"/>
                  </a:lnTo>
                  <a:lnTo>
                    <a:pt x="0" y="19217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524593" cy="1934464"/>
            </a:xfrm>
            <a:custGeom>
              <a:avLst/>
              <a:gdLst/>
              <a:ahLst/>
              <a:cxnLst/>
              <a:rect r="r" b="b" t="t" l="l"/>
              <a:pathLst>
                <a:path h="1934464" w="22524593">
                  <a:moveTo>
                    <a:pt x="6350" y="0"/>
                  </a:moveTo>
                  <a:lnTo>
                    <a:pt x="22518243" y="0"/>
                  </a:lnTo>
                  <a:cubicBezTo>
                    <a:pt x="22521799" y="0"/>
                    <a:pt x="22524593" y="2794"/>
                    <a:pt x="22524593" y="6350"/>
                  </a:cubicBezTo>
                  <a:lnTo>
                    <a:pt x="22524593" y="1928114"/>
                  </a:lnTo>
                  <a:cubicBezTo>
                    <a:pt x="22524593" y="1931670"/>
                    <a:pt x="22521799" y="1934464"/>
                    <a:pt x="22518243" y="1934464"/>
                  </a:cubicBezTo>
                  <a:lnTo>
                    <a:pt x="6350" y="1934464"/>
                  </a:lnTo>
                  <a:cubicBezTo>
                    <a:pt x="2794" y="1934464"/>
                    <a:pt x="0" y="1931670"/>
                    <a:pt x="0" y="1928114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928114"/>
                  </a:lnTo>
                  <a:lnTo>
                    <a:pt x="6350" y="1928114"/>
                  </a:lnTo>
                  <a:lnTo>
                    <a:pt x="6350" y="1921764"/>
                  </a:lnTo>
                  <a:lnTo>
                    <a:pt x="22518243" y="1921764"/>
                  </a:lnTo>
                  <a:lnTo>
                    <a:pt x="22518243" y="1928114"/>
                  </a:lnTo>
                  <a:lnTo>
                    <a:pt x="22511893" y="1928114"/>
                  </a:lnTo>
                  <a:lnTo>
                    <a:pt x="22511893" y="6350"/>
                  </a:lnTo>
                  <a:lnTo>
                    <a:pt x="22518243" y="6350"/>
                  </a:lnTo>
                  <a:lnTo>
                    <a:pt x="22518243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79764" y="2263007"/>
            <a:ext cx="1601465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55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Fuzzing is an automated software testing technique that sends massive numbers of random or semi-random inputs to a program, looking for crashes, hangs, or unexpected behaviour that reveal security vulnerabilities.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81571" y="3811267"/>
            <a:ext cx="5431593" cy="3853015"/>
            <a:chOff x="0" y="0"/>
            <a:chExt cx="7242124" cy="51373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7229475" cy="5124704"/>
            </a:xfrm>
            <a:custGeom>
              <a:avLst/>
              <a:gdLst/>
              <a:ahLst/>
              <a:cxnLst/>
              <a:rect r="r" b="b" t="t" l="l"/>
              <a:pathLst>
                <a:path h="5124704" w="7229475">
                  <a:moveTo>
                    <a:pt x="0" y="0"/>
                  </a:moveTo>
                  <a:lnTo>
                    <a:pt x="7229475" y="0"/>
                  </a:lnTo>
                  <a:lnTo>
                    <a:pt x="7229475" y="5124704"/>
                  </a:lnTo>
                  <a:lnTo>
                    <a:pt x="0" y="51247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42175" cy="5137404"/>
            </a:xfrm>
            <a:custGeom>
              <a:avLst/>
              <a:gdLst/>
              <a:ahLst/>
              <a:cxnLst/>
              <a:rect r="r" b="b" t="t" l="l"/>
              <a:pathLst>
                <a:path h="5137404" w="7242175">
                  <a:moveTo>
                    <a:pt x="6350" y="0"/>
                  </a:moveTo>
                  <a:lnTo>
                    <a:pt x="7235825" y="0"/>
                  </a:lnTo>
                  <a:cubicBezTo>
                    <a:pt x="7239381" y="0"/>
                    <a:pt x="7242175" y="2794"/>
                    <a:pt x="7242175" y="6350"/>
                  </a:cubicBezTo>
                  <a:lnTo>
                    <a:pt x="7242175" y="5131054"/>
                  </a:lnTo>
                  <a:cubicBezTo>
                    <a:pt x="7242175" y="5134610"/>
                    <a:pt x="7239381" y="5137404"/>
                    <a:pt x="7235825" y="5137404"/>
                  </a:cubicBezTo>
                  <a:lnTo>
                    <a:pt x="6350" y="5137404"/>
                  </a:lnTo>
                  <a:cubicBezTo>
                    <a:pt x="2794" y="5137404"/>
                    <a:pt x="0" y="5134610"/>
                    <a:pt x="0" y="5131054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5131054"/>
                  </a:lnTo>
                  <a:lnTo>
                    <a:pt x="6350" y="5131054"/>
                  </a:lnTo>
                  <a:lnTo>
                    <a:pt x="6350" y="5124704"/>
                  </a:lnTo>
                  <a:lnTo>
                    <a:pt x="7235825" y="5124704"/>
                  </a:lnTo>
                  <a:lnTo>
                    <a:pt x="7235825" y="5131054"/>
                  </a:lnTo>
                  <a:lnTo>
                    <a:pt x="7229475" y="5131054"/>
                  </a:lnTo>
                  <a:lnTo>
                    <a:pt x="7229475" y="6350"/>
                  </a:lnTo>
                  <a:lnTo>
                    <a:pt x="7235825" y="6350"/>
                  </a:lnTo>
                  <a:lnTo>
                    <a:pt x="7235825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013185" y="4047477"/>
            <a:ext cx="36606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2801" b="true">
                <a:solidFill>
                  <a:srgbClr val="1B2A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Automated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2312" y="4871085"/>
            <a:ext cx="469011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6B7A8D"/>
                </a:solidFill>
                <a:latin typeface="Calibri (MS)"/>
                <a:ea typeface="Calibri (MS)"/>
                <a:cs typeface="Calibri (MS)"/>
                <a:sym typeface="Calibri (MS)"/>
              </a:rPr>
              <a:t>No human needed — runs 24/7 generating inputs automatically.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336982" y="3811267"/>
            <a:ext cx="5431593" cy="3853015"/>
            <a:chOff x="0" y="0"/>
            <a:chExt cx="7242124" cy="51373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" y="6350"/>
              <a:ext cx="7229475" cy="5124704"/>
            </a:xfrm>
            <a:custGeom>
              <a:avLst/>
              <a:gdLst/>
              <a:ahLst/>
              <a:cxnLst/>
              <a:rect r="r" b="b" t="t" l="l"/>
              <a:pathLst>
                <a:path h="5124704" w="7229475">
                  <a:moveTo>
                    <a:pt x="0" y="0"/>
                  </a:moveTo>
                  <a:lnTo>
                    <a:pt x="7229475" y="0"/>
                  </a:lnTo>
                  <a:lnTo>
                    <a:pt x="7229475" y="5124704"/>
                  </a:lnTo>
                  <a:lnTo>
                    <a:pt x="0" y="51247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42175" cy="5137404"/>
            </a:xfrm>
            <a:custGeom>
              <a:avLst/>
              <a:gdLst/>
              <a:ahLst/>
              <a:cxnLst/>
              <a:rect r="r" b="b" t="t" l="l"/>
              <a:pathLst>
                <a:path h="5137404" w="7242175">
                  <a:moveTo>
                    <a:pt x="6350" y="0"/>
                  </a:moveTo>
                  <a:lnTo>
                    <a:pt x="7235825" y="0"/>
                  </a:lnTo>
                  <a:cubicBezTo>
                    <a:pt x="7239381" y="0"/>
                    <a:pt x="7242175" y="2794"/>
                    <a:pt x="7242175" y="6350"/>
                  </a:cubicBezTo>
                  <a:lnTo>
                    <a:pt x="7242175" y="5131054"/>
                  </a:lnTo>
                  <a:cubicBezTo>
                    <a:pt x="7242175" y="5134610"/>
                    <a:pt x="7239381" y="5137404"/>
                    <a:pt x="7235825" y="5137404"/>
                  </a:cubicBezTo>
                  <a:lnTo>
                    <a:pt x="6350" y="5137404"/>
                  </a:lnTo>
                  <a:cubicBezTo>
                    <a:pt x="2794" y="5137404"/>
                    <a:pt x="0" y="5134610"/>
                    <a:pt x="0" y="5131054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5131054"/>
                  </a:lnTo>
                  <a:lnTo>
                    <a:pt x="6350" y="5131054"/>
                  </a:lnTo>
                  <a:lnTo>
                    <a:pt x="6350" y="5124704"/>
                  </a:lnTo>
                  <a:lnTo>
                    <a:pt x="7235825" y="5124704"/>
                  </a:lnTo>
                  <a:lnTo>
                    <a:pt x="7235825" y="5131054"/>
                  </a:lnTo>
                  <a:lnTo>
                    <a:pt x="7229475" y="5131054"/>
                  </a:lnTo>
                  <a:lnTo>
                    <a:pt x="7229475" y="6350"/>
                  </a:lnTo>
                  <a:lnTo>
                    <a:pt x="7235825" y="6350"/>
                  </a:lnTo>
                  <a:lnTo>
                    <a:pt x="7235825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668587" y="4047477"/>
            <a:ext cx="36606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2801" b="true">
                <a:solidFill>
                  <a:srgbClr val="1B2A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Crash-Driven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07724" y="4871085"/>
            <a:ext cx="469011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6B7A8D"/>
                </a:solidFill>
                <a:latin typeface="Calibri (MS)"/>
                <a:ea typeface="Calibri (MS)"/>
                <a:cs typeface="Calibri (MS)"/>
                <a:sym typeface="Calibri (MS)"/>
              </a:rPr>
              <a:t>When the program crashes, a bug is found. Crashes = vulnerabilities.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992394" y="3811267"/>
            <a:ext cx="5431593" cy="3853015"/>
            <a:chOff x="0" y="0"/>
            <a:chExt cx="7242124" cy="513735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7229475" cy="5124704"/>
            </a:xfrm>
            <a:custGeom>
              <a:avLst/>
              <a:gdLst/>
              <a:ahLst/>
              <a:cxnLst/>
              <a:rect r="r" b="b" t="t" l="l"/>
              <a:pathLst>
                <a:path h="5124704" w="7229475">
                  <a:moveTo>
                    <a:pt x="0" y="0"/>
                  </a:moveTo>
                  <a:lnTo>
                    <a:pt x="7229475" y="0"/>
                  </a:lnTo>
                  <a:lnTo>
                    <a:pt x="7229475" y="5124704"/>
                  </a:lnTo>
                  <a:lnTo>
                    <a:pt x="0" y="51247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242175" cy="5137404"/>
            </a:xfrm>
            <a:custGeom>
              <a:avLst/>
              <a:gdLst/>
              <a:ahLst/>
              <a:cxnLst/>
              <a:rect r="r" b="b" t="t" l="l"/>
              <a:pathLst>
                <a:path h="5137404" w="7242175">
                  <a:moveTo>
                    <a:pt x="6350" y="0"/>
                  </a:moveTo>
                  <a:lnTo>
                    <a:pt x="7235825" y="0"/>
                  </a:lnTo>
                  <a:cubicBezTo>
                    <a:pt x="7239381" y="0"/>
                    <a:pt x="7242175" y="2794"/>
                    <a:pt x="7242175" y="6350"/>
                  </a:cubicBezTo>
                  <a:lnTo>
                    <a:pt x="7242175" y="5131054"/>
                  </a:lnTo>
                  <a:cubicBezTo>
                    <a:pt x="7242175" y="5134610"/>
                    <a:pt x="7239381" y="5137404"/>
                    <a:pt x="7235825" y="5137404"/>
                  </a:cubicBezTo>
                  <a:lnTo>
                    <a:pt x="6350" y="5137404"/>
                  </a:lnTo>
                  <a:cubicBezTo>
                    <a:pt x="2794" y="5137404"/>
                    <a:pt x="0" y="5134610"/>
                    <a:pt x="0" y="5131054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5131054"/>
                  </a:lnTo>
                  <a:lnTo>
                    <a:pt x="6350" y="5131054"/>
                  </a:lnTo>
                  <a:lnTo>
                    <a:pt x="6350" y="5124704"/>
                  </a:lnTo>
                  <a:lnTo>
                    <a:pt x="7235825" y="5124704"/>
                  </a:lnTo>
                  <a:lnTo>
                    <a:pt x="7235825" y="5131054"/>
                  </a:lnTo>
                  <a:lnTo>
                    <a:pt x="7229475" y="5131054"/>
                  </a:lnTo>
                  <a:lnTo>
                    <a:pt x="7229475" y="6350"/>
                  </a:lnTo>
                  <a:lnTo>
                    <a:pt x="7235825" y="6350"/>
                  </a:lnTo>
                  <a:lnTo>
                    <a:pt x="7235825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3323999" y="4047477"/>
            <a:ext cx="36606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2801" b="true">
                <a:solidFill>
                  <a:srgbClr val="1B2A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Coverage-Guided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63136" y="4871085"/>
            <a:ext cx="469011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6B7A8D"/>
                </a:solidFill>
                <a:latin typeface="Calibri (MS)"/>
                <a:ea typeface="Calibri (MS)"/>
                <a:cs typeface="Calibri (MS)"/>
                <a:sym typeface="Calibri (MS)"/>
              </a:rPr>
              <a:t>Smart fuzzers track which code paths were hit and try to reach new ones.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86333" y="7865412"/>
            <a:ext cx="16883872" cy="1125588"/>
            <a:chOff x="0" y="0"/>
            <a:chExt cx="22511830" cy="15007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511765" cy="1500759"/>
            </a:xfrm>
            <a:custGeom>
              <a:avLst/>
              <a:gdLst/>
              <a:ahLst/>
              <a:cxnLst/>
              <a:rect r="r" b="b" t="t" l="l"/>
              <a:pathLst>
                <a:path h="1500759" w="22511765">
                  <a:moveTo>
                    <a:pt x="0" y="0"/>
                  </a:moveTo>
                  <a:lnTo>
                    <a:pt x="22511765" y="0"/>
                  </a:lnTo>
                  <a:lnTo>
                    <a:pt x="22511765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E8F5F2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79764" y="8037757"/>
            <a:ext cx="173886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 b="true">
                <a:solidFill>
                  <a:srgbClr val="00C9A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Analogy: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836783" y="8028232"/>
            <a:ext cx="1423017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i="true">
                <a:solidFill>
                  <a:srgbClr val="1B2A3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Like a robot pressing every button combination on a lock until it accidentally finds the one that opens the vault.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249842" y="9763115"/>
            <a:ext cx="915257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4A5A6A"/>
                </a:solidFill>
                <a:latin typeface="Calibri (MS)"/>
                <a:ea typeface="Calibri (MS)"/>
                <a:cs typeface="Calibri (MS)"/>
                <a:sym typeface="Calibri (MS)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919744"/>
            <a:ext cx="13543845" cy="98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true">
                <a:solidFill>
                  <a:srgbClr val="1B2A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is Protocol Fuzzing?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7773" y="2176443"/>
            <a:ext cx="7915885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1"/>
              </a:lnSpc>
            </a:pPr>
            <a:r>
              <a:rPr lang="en-US" sz="205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Protocol fuzzing tests networked applications by sending malformed or unexpected sequences of protocol messages, aiming to uncover vulnerabilities in how servers handle communication.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86333" y="3637578"/>
            <a:ext cx="8098765" cy="988324"/>
            <a:chOff x="0" y="0"/>
            <a:chExt cx="10798353" cy="13177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98302" cy="1317752"/>
            </a:xfrm>
            <a:custGeom>
              <a:avLst/>
              <a:gdLst/>
              <a:ahLst/>
              <a:cxnLst/>
              <a:rect r="r" b="b" t="t" l="l"/>
              <a:pathLst>
                <a:path h="1317752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1317752"/>
                  </a:lnTo>
                  <a:lnTo>
                    <a:pt x="0" y="13177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79764" y="3745487"/>
            <a:ext cx="3660600" cy="36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B2A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FTP Server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9764" y="4166816"/>
            <a:ext cx="3660600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B7A8D"/>
                </a:solidFill>
                <a:latin typeface="Calibri (MS)"/>
                <a:ea typeface="Calibri (MS)"/>
                <a:cs typeface="Calibri (MS)"/>
                <a:sym typeface="Calibri (MS)"/>
              </a:rPr>
              <a:t>File Transfer Protocol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86333" y="4804353"/>
            <a:ext cx="8098765" cy="988324"/>
            <a:chOff x="0" y="0"/>
            <a:chExt cx="10798353" cy="131776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1317752"/>
            </a:xfrm>
            <a:custGeom>
              <a:avLst/>
              <a:gdLst/>
              <a:ahLst/>
              <a:cxnLst/>
              <a:rect r="r" b="b" t="t" l="l"/>
              <a:pathLst>
                <a:path h="1317752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1317752"/>
                  </a:lnTo>
                  <a:lnTo>
                    <a:pt x="0" y="13177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79764" y="4912262"/>
            <a:ext cx="3660600" cy="36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B2A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SMTP Server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9764" y="5333590"/>
            <a:ext cx="3660600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B7A8D"/>
                </a:solidFill>
                <a:latin typeface="Calibri (MS)"/>
                <a:ea typeface="Calibri (MS)"/>
                <a:cs typeface="Calibri (MS)"/>
                <a:sym typeface="Calibri (MS)"/>
              </a:rPr>
              <a:t>Email Protocol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86333" y="5971127"/>
            <a:ext cx="8098765" cy="988324"/>
            <a:chOff x="0" y="0"/>
            <a:chExt cx="10798353" cy="13177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98302" cy="1317752"/>
            </a:xfrm>
            <a:custGeom>
              <a:avLst/>
              <a:gdLst/>
              <a:ahLst/>
              <a:cxnLst/>
              <a:rect r="r" b="b" t="t" l="l"/>
              <a:pathLst>
                <a:path h="1317752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1317752"/>
                  </a:lnTo>
                  <a:lnTo>
                    <a:pt x="0" y="13177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79764" y="6079036"/>
            <a:ext cx="3660600" cy="36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B2A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SIP Server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9764" y="6500365"/>
            <a:ext cx="3660600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B7A8D"/>
                </a:solidFill>
                <a:latin typeface="Calibri (MS)"/>
                <a:ea typeface="Calibri (MS)"/>
                <a:cs typeface="Calibri (MS)"/>
                <a:sym typeface="Calibri (MS)"/>
              </a:rPr>
              <a:t>VoIP Calling Protocol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86333" y="7137892"/>
            <a:ext cx="8098765" cy="988324"/>
            <a:chOff x="0" y="0"/>
            <a:chExt cx="10798353" cy="131776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98302" cy="1317752"/>
            </a:xfrm>
            <a:custGeom>
              <a:avLst/>
              <a:gdLst/>
              <a:ahLst/>
              <a:cxnLst/>
              <a:rect r="r" b="b" t="t" l="l"/>
              <a:pathLst>
                <a:path h="1317752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1317752"/>
                  </a:lnTo>
                  <a:lnTo>
                    <a:pt x="0" y="13177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7245801"/>
            <a:ext cx="3660600" cy="36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B2A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RTSP Server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9764" y="7667130"/>
            <a:ext cx="3660600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B7A8D"/>
                </a:solidFill>
                <a:latin typeface="Calibri (MS)"/>
                <a:ea typeface="Calibri (MS)"/>
                <a:cs typeface="Calibri (MS)"/>
                <a:sym typeface="Calibri (MS)"/>
              </a:rPr>
              <a:t>Streaming Protocol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123502" y="1944424"/>
            <a:ext cx="8520103" cy="7627868"/>
            <a:chOff x="0" y="0"/>
            <a:chExt cx="11360137" cy="101704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350" y="6350"/>
              <a:ext cx="11347450" cy="10157841"/>
            </a:xfrm>
            <a:custGeom>
              <a:avLst/>
              <a:gdLst/>
              <a:ahLst/>
              <a:cxnLst/>
              <a:rect r="r" b="b" t="t" l="l"/>
              <a:pathLst>
                <a:path h="10157841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10157841"/>
                  </a:lnTo>
                  <a:lnTo>
                    <a:pt x="0" y="1015784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360150" cy="10170541"/>
            </a:xfrm>
            <a:custGeom>
              <a:avLst/>
              <a:gdLst/>
              <a:ahLst/>
              <a:cxnLst/>
              <a:rect r="r" b="b" t="t" l="l"/>
              <a:pathLst>
                <a:path h="10170541" w="11360150">
                  <a:moveTo>
                    <a:pt x="6350" y="0"/>
                  </a:moveTo>
                  <a:lnTo>
                    <a:pt x="11353800" y="0"/>
                  </a:lnTo>
                  <a:cubicBezTo>
                    <a:pt x="11357356" y="0"/>
                    <a:pt x="11360150" y="2794"/>
                    <a:pt x="11360150" y="6350"/>
                  </a:cubicBezTo>
                  <a:lnTo>
                    <a:pt x="11360150" y="10164191"/>
                  </a:lnTo>
                  <a:cubicBezTo>
                    <a:pt x="11360150" y="10167748"/>
                    <a:pt x="11357356" y="10170541"/>
                    <a:pt x="11353800" y="10170541"/>
                  </a:cubicBezTo>
                  <a:lnTo>
                    <a:pt x="6350" y="10170541"/>
                  </a:lnTo>
                  <a:cubicBezTo>
                    <a:pt x="2794" y="10170541"/>
                    <a:pt x="0" y="10167748"/>
                    <a:pt x="0" y="10164191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0164191"/>
                  </a:lnTo>
                  <a:lnTo>
                    <a:pt x="6350" y="10164191"/>
                  </a:lnTo>
                  <a:lnTo>
                    <a:pt x="6350" y="10157841"/>
                  </a:lnTo>
                  <a:lnTo>
                    <a:pt x="11353800" y="10157841"/>
                  </a:lnTo>
                  <a:lnTo>
                    <a:pt x="11353800" y="10164191"/>
                  </a:lnTo>
                  <a:lnTo>
                    <a:pt x="11347450" y="10164191"/>
                  </a:lnTo>
                  <a:lnTo>
                    <a:pt x="11347450" y="6350"/>
                  </a:lnTo>
                  <a:lnTo>
                    <a:pt x="11353800" y="6350"/>
                  </a:lnTo>
                  <a:lnTo>
                    <a:pt x="1135380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494244" y="2125742"/>
            <a:ext cx="7778620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B2A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Stateful FTP Session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31509" y="2954665"/>
            <a:ext cx="448420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1"/>
              </a:lnSpc>
            </a:pPr>
            <a:r>
              <a:rPr lang="en-US" sz="1626">
                <a:solidFill>
                  <a:srgbClr val="0F1E2E"/>
                </a:solidFill>
                <a:latin typeface="Consolas"/>
                <a:ea typeface="Consolas"/>
                <a:cs typeface="Consolas"/>
                <a:sym typeface="Consolas"/>
              </a:rPr>
              <a:t>CLIENT: USER admin\r\n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45489" y="3723361"/>
            <a:ext cx="448420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1"/>
              </a:lnSpc>
            </a:pPr>
            <a:r>
              <a:rPr lang="en-US" sz="1626">
                <a:solidFill>
                  <a:srgbClr val="0F1E2E"/>
                </a:solidFill>
                <a:latin typeface="Consolas"/>
                <a:ea typeface="Consolas"/>
                <a:cs typeface="Consolas"/>
                <a:sym typeface="Consolas"/>
              </a:rPr>
              <a:t>SERVER: 331 Password required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31509" y="4492057"/>
            <a:ext cx="448420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1"/>
              </a:lnSpc>
            </a:pPr>
            <a:r>
              <a:rPr lang="en-US" sz="1626">
                <a:solidFill>
                  <a:srgbClr val="0F1E2E"/>
                </a:solidFill>
                <a:latin typeface="Consolas"/>
                <a:ea typeface="Consolas"/>
                <a:cs typeface="Consolas"/>
                <a:sym typeface="Consolas"/>
              </a:rPr>
              <a:t>CLIENT: PASS secret\r\n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45489" y="5251228"/>
            <a:ext cx="448420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0F1E2E"/>
                </a:solidFill>
                <a:latin typeface="Consolas"/>
                <a:ea typeface="Consolas"/>
                <a:cs typeface="Consolas"/>
                <a:sym typeface="Consolas"/>
              </a:rPr>
              <a:t>SERVER: 230 Logged in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31509" y="6019924"/>
            <a:ext cx="4484208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0F1E2E"/>
                </a:solidFill>
                <a:latin typeface="Consolas"/>
                <a:ea typeface="Consolas"/>
                <a:cs typeface="Consolas"/>
                <a:sym typeface="Consolas"/>
              </a:rPr>
              <a:t>CLIENT: LIST\r\n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45489" y="6788620"/>
            <a:ext cx="4484208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0F1E2E"/>
                </a:solidFill>
                <a:latin typeface="Consolas"/>
                <a:ea typeface="Consolas"/>
                <a:cs typeface="Consolas"/>
                <a:sym typeface="Consolas"/>
              </a:rPr>
              <a:t>SERVER: 150 File list...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31509" y="7557316"/>
            <a:ext cx="4484208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0F1E2E"/>
                </a:solidFill>
                <a:latin typeface="Consolas"/>
                <a:ea typeface="Consolas"/>
                <a:cs typeface="Consolas"/>
                <a:sym typeface="Consolas"/>
              </a:rPr>
              <a:t>CLIENT: RETR file.txt\r\n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445489" y="8326012"/>
            <a:ext cx="4484208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0F1E2E"/>
                </a:solidFill>
                <a:latin typeface="Consolas"/>
                <a:ea typeface="Consolas"/>
                <a:cs typeface="Consolas"/>
                <a:sym typeface="Consolas"/>
              </a:rPr>
              <a:t>SERVER: 200 OK, sending...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94244" y="9076782"/>
            <a:ext cx="7778620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b="true" sz="1651">
                <a:solidFill>
                  <a:srgbClr val="1A2F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Messages must follow a strict ORDER and FORMAT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249842" y="9763115"/>
            <a:ext cx="915257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4A5A6A"/>
                </a:solidFill>
                <a:latin typeface="Calibri (MS)"/>
                <a:ea typeface="Calibri (MS)"/>
                <a:cs typeface="Calibri (MS)"/>
                <a:sym typeface="Calibri (MS)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F1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97725" cy="1784471"/>
            <a:chOff x="0" y="0"/>
            <a:chExt cx="24396967" cy="23792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954" cy="2379345"/>
            </a:xfrm>
            <a:custGeom>
              <a:avLst/>
              <a:gdLst/>
              <a:ahLst/>
              <a:cxnLst/>
              <a:rect r="r" b="b" t="t" l="l"/>
              <a:pathLst>
                <a:path h="237934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1A2F4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46411" y="315773"/>
            <a:ext cx="16700992" cy="98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Problem with Existing Protocol Fuzzers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81571" y="2054238"/>
            <a:ext cx="5637486" cy="7421966"/>
            <a:chOff x="0" y="0"/>
            <a:chExt cx="7516647" cy="98959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7503922" cy="9883267"/>
            </a:xfrm>
            <a:custGeom>
              <a:avLst/>
              <a:gdLst/>
              <a:ahLst/>
              <a:cxnLst/>
              <a:rect r="r" b="b" t="t" l="l"/>
              <a:pathLst>
                <a:path h="9883267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9883267"/>
                  </a:lnTo>
                  <a:lnTo>
                    <a:pt x="0" y="9883267"/>
                  </a:lnTo>
                  <a:close/>
                </a:path>
              </a:pathLst>
            </a:custGeom>
            <a:solidFill>
              <a:srgbClr val="1A2F4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16622" cy="9895967"/>
            </a:xfrm>
            <a:custGeom>
              <a:avLst/>
              <a:gdLst/>
              <a:ahLst/>
              <a:cxnLst/>
              <a:rect r="r" b="b" t="t" l="l"/>
              <a:pathLst>
                <a:path h="9895967" w="7516622">
                  <a:moveTo>
                    <a:pt x="6350" y="0"/>
                  </a:moveTo>
                  <a:lnTo>
                    <a:pt x="7510272" y="0"/>
                  </a:lnTo>
                  <a:cubicBezTo>
                    <a:pt x="7513828" y="0"/>
                    <a:pt x="7516622" y="2794"/>
                    <a:pt x="7516622" y="6350"/>
                  </a:cubicBezTo>
                  <a:lnTo>
                    <a:pt x="7516622" y="9889617"/>
                  </a:lnTo>
                  <a:cubicBezTo>
                    <a:pt x="7516622" y="9893174"/>
                    <a:pt x="7513828" y="9895967"/>
                    <a:pt x="7510272" y="9895967"/>
                  </a:cubicBezTo>
                  <a:lnTo>
                    <a:pt x="6350" y="9895967"/>
                  </a:lnTo>
                  <a:cubicBezTo>
                    <a:pt x="2794" y="9895967"/>
                    <a:pt x="0" y="9893174"/>
                    <a:pt x="0" y="988961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9889617"/>
                  </a:lnTo>
                  <a:lnTo>
                    <a:pt x="6350" y="9889617"/>
                  </a:lnTo>
                  <a:lnTo>
                    <a:pt x="6350" y="9883267"/>
                  </a:lnTo>
                  <a:lnTo>
                    <a:pt x="7510272" y="9883267"/>
                  </a:lnTo>
                  <a:lnTo>
                    <a:pt x="7510272" y="9889617"/>
                  </a:lnTo>
                  <a:lnTo>
                    <a:pt x="7503922" y="9889617"/>
                  </a:lnTo>
                  <a:lnTo>
                    <a:pt x="7503922" y="6350"/>
                  </a:lnTo>
                  <a:lnTo>
                    <a:pt x="7510272" y="6350"/>
                  </a:lnTo>
                  <a:lnTo>
                    <a:pt x="7510272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52312" y="3204829"/>
            <a:ext cx="489601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2"/>
              </a:lnSpc>
            </a:pPr>
            <a:r>
              <a:rPr lang="en-US" b="true" sz="305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Grammar Blindness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2312" y="4098188"/>
            <a:ext cx="4896012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C0D0E0"/>
                </a:solidFill>
                <a:latin typeface="Calibri (MS)"/>
                <a:ea typeface="Calibri (MS)"/>
                <a:cs typeface="Calibri (MS)"/>
                <a:sym typeface="Calibri (MS)"/>
              </a:rPr>
              <a:t>Fuzzers like AFLNet treat protocol messages as raw bytes. They randomly flip bits without understanding the protocol's structure (grammar). Result: most mutations produce malformed messages that are rejected immediately  wasting precious fuzzing cycles.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15424" y="2054238"/>
            <a:ext cx="5637486" cy="7421966"/>
            <a:chOff x="0" y="0"/>
            <a:chExt cx="7516647" cy="98959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7503922" cy="9883267"/>
            </a:xfrm>
            <a:custGeom>
              <a:avLst/>
              <a:gdLst/>
              <a:ahLst/>
              <a:cxnLst/>
              <a:rect r="r" b="b" t="t" l="l"/>
              <a:pathLst>
                <a:path h="9883267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9883267"/>
                  </a:lnTo>
                  <a:lnTo>
                    <a:pt x="0" y="9883267"/>
                  </a:lnTo>
                  <a:close/>
                </a:path>
              </a:pathLst>
            </a:custGeom>
            <a:solidFill>
              <a:srgbClr val="1A2F4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516622" cy="9895967"/>
            </a:xfrm>
            <a:custGeom>
              <a:avLst/>
              <a:gdLst/>
              <a:ahLst/>
              <a:cxnLst/>
              <a:rect r="r" b="b" t="t" l="l"/>
              <a:pathLst>
                <a:path h="9895967" w="7516622">
                  <a:moveTo>
                    <a:pt x="6350" y="0"/>
                  </a:moveTo>
                  <a:lnTo>
                    <a:pt x="7510272" y="0"/>
                  </a:lnTo>
                  <a:cubicBezTo>
                    <a:pt x="7513828" y="0"/>
                    <a:pt x="7516622" y="2794"/>
                    <a:pt x="7516622" y="6350"/>
                  </a:cubicBezTo>
                  <a:lnTo>
                    <a:pt x="7516622" y="9889617"/>
                  </a:lnTo>
                  <a:cubicBezTo>
                    <a:pt x="7516622" y="9893174"/>
                    <a:pt x="7513828" y="9895967"/>
                    <a:pt x="7510272" y="9895967"/>
                  </a:cubicBezTo>
                  <a:lnTo>
                    <a:pt x="6350" y="9895967"/>
                  </a:lnTo>
                  <a:cubicBezTo>
                    <a:pt x="2794" y="9895967"/>
                    <a:pt x="0" y="9893174"/>
                    <a:pt x="0" y="988961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9889617"/>
                  </a:lnTo>
                  <a:lnTo>
                    <a:pt x="6350" y="9889617"/>
                  </a:lnTo>
                  <a:lnTo>
                    <a:pt x="6350" y="9883267"/>
                  </a:lnTo>
                  <a:lnTo>
                    <a:pt x="7510272" y="9883267"/>
                  </a:lnTo>
                  <a:lnTo>
                    <a:pt x="7510272" y="9889617"/>
                  </a:lnTo>
                  <a:lnTo>
                    <a:pt x="7503922" y="9889617"/>
                  </a:lnTo>
                  <a:lnTo>
                    <a:pt x="7503922" y="6350"/>
                  </a:lnTo>
                  <a:lnTo>
                    <a:pt x="7510272" y="6350"/>
                  </a:lnTo>
                  <a:lnTo>
                    <a:pt x="7510272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886165" y="3204829"/>
            <a:ext cx="489601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2"/>
              </a:lnSpc>
            </a:pPr>
            <a:r>
              <a:rPr lang="en-US" b="true" sz="305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Seed Poverty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86165" y="4098188"/>
            <a:ext cx="4896012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C0D0E0"/>
                </a:solidFill>
                <a:latin typeface="Calibri (MS)"/>
                <a:ea typeface="Calibri (MS)"/>
                <a:cs typeface="Calibri (MS)"/>
                <a:sym typeface="Calibri (MS)"/>
              </a:rPr>
              <a:t>Initial recorded sessions (seeds) only capture a small slice of all possible message types. For example, an FTP session might only have USER, PASS, LIST  but FTP has 50+ commands. The fuzzer never even tries commands like SITE EXEC or RNFR that could be vulnerable.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349286" y="2054238"/>
            <a:ext cx="5637486" cy="7421966"/>
            <a:chOff x="0" y="0"/>
            <a:chExt cx="7516647" cy="989595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7503922" cy="9883267"/>
            </a:xfrm>
            <a:custGeom>
              <a:avLst/>
              <a:gdLst/>
              <a:ahLst/>
              <a:cxnLst/>
              <a:rect r="r" b="b" t="t" l="l"/>
              <a:pathLst>
                <a:path h="9883267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9883267"/>
                  </a:lnTo>
                  <a:lnTo>
                    <a:pt x="0" y="9883267"/>
                  </a:lnTo>
                  <a:close/>
                </a:path>
              </a:pathLst>
            </a:custGeom>
            <a:solidFill>
              <a:srgbClr val="1A2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516622" cy="9895967"/>
            </a:xfrm>
            <a:custGeom>
              <a:avLst/>
              <a:gdLst/>
              <a:ahLst/>
              <a:cxnLst/>
              <a:rect r="r" b="b" t="t" l="l"/>
              <a:pathLst>
                <a:path h="9895967" w="7516622">
                  <a:moveTo>
                    <a:pt x="6350" y="0"/>
                  </a:moveTo>
                  <a:lnTo>
                    <a:pt x="7510272" y="0"/>
                  </a:lnTo>
                  <a:cubicBezTo>
                    <a:pt x="7513828" y="0"/>
                    <a:pt x="7516622" y="2794"/>
                    <a:pt x="7516622" y="6350"/>
                  </a:cubicBezTo>
                  <a:lnTo>
                    <a:pt x="7516622" y="9889617"/>
                  </a:lnTo>
                  <a:cubicBezTo>
                    <a:pt x="7516622" y="9893174"/>
                    <a:pt x="7513828" y="9895967"/>
                    <a:pt x="7510272" y="9895967"/>
                  </a:cubicBezTo>
                  <a:lnTo>
                    <a:pt x="6350" y="9895967"/>
                  </a:lnTo>
                  <a:cubicBezTo>
                    <a:pt x="2794" y="9895967"/>
                    <a:pt x="0" y="9893174"/>
                    <a:pt x="0" y="988961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9889617"/>
                  </a:lnTo>
                  <a:lnTo>
                    <a:pt x="6350" y="9889617"/>
                  </a:lnTo>
                  <a:lnTo>
                    <a:pt x="6350" y="9883267"/>
                  </a:lnTo>
                  <a:lnTo>
                    <a:pt x="7510272" y="9883267"/>
                  </a:lnTo>
                  <a:lnTo>
                    <a:pt x="7510272" y="9889617"/>
                  </a:lnTo>
                  <a:lnTo>
                    <a:pt x="7503922" y="9889617"/>
                  </a:lnTo>
                  <a:lnTo>
                    <a:pt x="7503922" y="6350"/>
                  </a:lnTo>
                  <a:lnTo>
                    <a:pt x="7510272" y="6350"/>
                  </a:lnTo>
                  <a:lnTo>
                    <a:pt x="7510272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720028" y="3204829"/>
            <a:ext cx="489601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2"/>
              </a:lnSpc>
            </a:pPr>
            <a:r>
              <a:rPr lang="en-US" b="true" sz="305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Coverage Plateaus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20028" y="4098188"/>
            <a:ext cx="4896012" cy="4751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C0D0E0"/>
                </a:solidFill>
                <a:latin typeface="Calibri (MS)"/>
                <a:ea typeface="Calibri (MS)"/>
                <a:cs typeface="Calibri (MS)"/>
                <a:sym typeface="Calibri (MS)"/>
              </a:rPr>
              <a:t>After a while, the fuzzer discovers all 'easy' states and gets stuck in a loop. It keeps replaying the same code paths without being able to break into new, unexplored server states. This is the hardest problem in stateful fuzzing.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249842" y="9763115"/>
            <a:ext cx="915257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4A5A6A"/>
                </a:solidFill>
                <a:latin typeface="Calibri (MS)"/>
                <a:ea typeface="Calibri (MS)"/>
                <a:cs typeface="Calibri (MS)"/>
                <a:sym typeface="Calibri (MS)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48674" y="2140037"/>
            <a:ext cx="9555904" cy="6006927"/>
          </a:xfrm>
          <a:custGeom>
            <a:avLst/>
            <a:gdLst/>
            <a:ahLst/>
            <a:cxnLst/>
            <a:rect r="r" b="b" t="t" l="l"/>
            <a:pathLst>
              <a:path h="6006927" w="9555904">
                <a:moveTo>
                  <a:pt x="0" y="0"/>
                </a:moveTo>
                <a:lnTo>
                  <a:pt x="9555905" y="0"/>
                </a:lnTo>
                <a:lnTo>
                  <a:pt x="9555905" y="6006926"/>
                </a:lnTo>
                <a:lnTo>
                  <a:pt x="0" y="6006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948319"/>
            <a:ext cx="13543845" cy="88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1B2A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ChatAFL: LLM-Guided Protocol Fuzzing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86333" y="2059010"/>
            <a:ext cx="16883872" cy="988324"/>
            <a:chOff x="0" y="0"/>
            <a:chExt cx="22511830" cy="13177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11765" cy="1317752"/>
            </a:xfrm>
            <a:custGeom>
              <a:avLst/>
              <a:gdLst/>
              <a:ahLst/>
              <a:cxnLst/>
              <a:rect r="r" b="b" t="t" l="l"/>
              <a:pathLst>
                <a:path h="1317752" w="22511765">
                  <a:moveTo>
                    <a:pt x="0" y="0"/>
                  </a:moveTo>
                  <a:lnTo>
                    <a:pt x="22511765" y="0"/>
                  </a:lnTo>
                  <a:lnTo>
                    <a:pt x="22511765" y="1317752"/>
                  </a:lnTo>
                  <a:lnTo>
                    <a:pt x="0" y="1317752"/>
                  </a:lnTo>
                  <a:close/>
                </a:path>
              </a:pathLst>
            </a:custGeom>
            <a:solidFill>
              <a:srgbClr val="E8EDF2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20940" y="2221821"/>
            <a:ext cx="2013394" cy="573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b="true" sz="1951">
                <a:solidFill>
                  <a:srgbClr val="8AA0B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Core Idea: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79950" y="2221821"/>
            <a:ext cx="13955649" cy="573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i="true">
                <a:solidFill>
                  <a:srgbClr val="1B2A3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LLMs (like GPT / Llama) have been trained on RFC documents, protocol specs, and source code. ChatAFL harnesses this built-in knowledge to make the fuzzer smarter at every stage.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81571" y="3289649"/>
            <a:ext cx="8520103" cy="6255191"/>
            <a:chOff x="0" y="0"/>
            <a:chExt cx="11360137" cy="83402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11347450" cy="8327517"/>
            </a:xfrm>
            <a:custGeom>
              <a:avLst/>
              <a:gdLst/>
              <a:ahLst/>
              <a:cxnLst/>
              <a:rect r="r" b="b" t="t" l="l"/>
              <a:pathLst>
                <a:path h="8327517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8327517"/>
                  </a:lnTo>
                  <a:lnTo>
                    <a:pt x="0" y="832751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60150" cy="8340217"/>
            </a:xfrm>
            <a:custGeom>
              <a:avLst/>
              <a:gdLst/>
              <a:ahLst/>
              <a:cxnLst/>
              <a:rect r="r" b="b" t="t" l="l"/>
              <a:pathLst>
                <a:path h="8340217" w="11360150">
                  <a:moveTo>
                    <a:pt x="6350" y="0"/>
                  </a:moveTo>
                  <a:lnTo>
                    <a:pt x="11353800" y="0"/>
                  </a:lnTo>
                  <a:cubicBezTo>
                    <a:pt x="11357356" y="0"/>
                    <a:pt x="11360150" y="2794"/>
                    <a:pt x="11360150" y="6350"/>
                  </a:cubicBezTo>
                  <a:lnTo>
                    <a:pt x="11360150" y="8333867"/>
                  </a:lnTo>
                  <a:cubicBezTo>
                    <a:pt x="11360150" y="8337424"/>
                    <a:pt x="11357356" y="8340217"/>
                    <a:pt x="11353800" y="8340217"/>
                  </a:cubicBezTo>
                  <a:lnTo>
                    <a:pt x="6350" y="8340217"/>
                  </a:lnTo>
                  <a:cubicBezTo>
                    <a:pt x="2794" y="8340217"/>
                    <a:pt x="0" y="8337424"/>
                    <a:pt x="0" y="833386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8333867"/>
                  </a:lnTo>
                  <a:lnTo>
                    <a:pt x="6350" y="8333867"/>
                  </a:lnTo>
                  <a:lnTo>
                    <a:pt x="6350" y="8327517"/>
                  </a:lnTo>
                  <a:lnTo>
                    <a:pt x="11353800" y="8327517"/>
                  </a:lnTo>
                  <a:lnTo>
                    <a:pt x="11353800" y="8333867"/>
                  </a:lnTo>
                  <a:lnTo>
                    <a:pt x="11347450" y="8333867"/>
                  </a:lnTo>
                  <a:lnTo>
                    <a:pt x="11347450" y="6350"/>
                  </a:lnTo>
                  <a:lnTo>
                    <a:pt x="11353800" y="6350"/>
                  </a:lnTo>
                  <a:lnTo>
                    <a:pt x="1135380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20940" y="3512134"/>
            <a:ext cx="764135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2801" b="true">
                <a:solidFill>
                  <a:srgbClr val="1B2A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AFLNet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70009" y="4331541"/>
            <a:ext cx="695501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2076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Treats messages as raw bytes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0009" y="5223777"/>
            <a:ext cx="695501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2076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Random bit-flip mutations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0009" y="6116012"/>
            <a:ext cx="695501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2076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No protocol understanding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70009" y="7008247"/>
            <a:ext cx="695501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2076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Gets stuck at coverage plateau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0009" y="7900483"/>
            <a:ext cx="695501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2076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Ignores protocol semantics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535306" y="3289649"/>
            <a:ext cx="8520103" cy="6255191"/>
            <a:chOff x="0" y="0"/>
            <a:chExt cx="11360137" cy="83402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" y="6350"/>
              <a:ext cx="11347450" cy="8327517"/>
            </a:xfrm>
            <a:custGeom>
              <a:avLst/>
              <a:gdLst/>
              <a:ahLst/>
              <a:cxnLst/>
              <a:rect r="r" b="b" t="t" l="l"/>
              <a:pathLst>
                <a:path h="8327517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8327517"/>
                  </a:lnTo>
                  <a:lnTo>
                    <a:pt x="0" y="832751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360150" cy="8340217"/>
            </a:xfrm>
            <a:custGeom>
              <a:avLst/>
              <a:gdLst/>
              <a:ahLst/>
              <a:cxnLst/>
              <a:rect r="r" b="b" t="t" l="l"/>
              <a:pathLst>
                <a:path h="8340217" w="11360150">
                  <a:moveTo>
                    <a:pt x="6350" y="0"/>
                  </a:moveTo>
                  <a:lnTo>
                    <a:pt x="11353800" y="0"/>
                  </a:lnTo>
                  <a:cubicBezTo>
                    <a:pt x="11357356" y="0"/>
                    <a:pt x="11360150" y="2794"/>
                    <a:pt x="11360150" y="6350"/>
                  </a:cubicBezTo>
                  <a:lnTo>
                    <a:pt x="11360150" y="8333867"/>
                  </a:lnTo>
                  <a:cubicBezTo>
                    <a:pt x="11360150" y="8337424"/>
                    <a:pt x="11357356" y="8340217"/>
                    <a:pt x="11353800" y="8340217"/>
                  </a:cubicBezTo>
                  <a:lnTo>
                    <a:pt x="6350" y="8340217"/>
                  </a:lnTo>
                  <a:cubicBezTo>
                    <a:pt x="2794" y="8340217"/>
                    <a:pt x="0" y="8337424"/>
                    <a:pt x="0" y="833386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8333867"/>
                  </a:lnTo>
                  <a:lnTo>
                    <a:pt x="6350" y="8333867"/>
                  </a:lnTo>
                  <a:lnTo>
                    <a:pt x="6350" y="8327517"/>
                  </a:lnTo>
                  <a:lnTo>
                    <a:pt x="11353800" y="8327517"/>
                  </a:lnTo>
                  <a:lnTo>
                    <a:pt x="11353800" y="8333867"/>
                  </a:lnTo>
                  <a:lnTo>
                    <a:pt x="11347450" y="8333867"/>
                  </a:lnTo>
                  <a:lnTo>
                    <a:pt x="11347450" y="6350"/>
                  </a:lnTo>
                  <a:lnTo>
                    <a:pt x="11353800" y="6350"/>
                  </a:lnTo>
                  <a:lnTo>
                    <a:pt x="1135380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974685" y="3512134"/>
            <a:ext cx="764135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2801" b="true">
                <a:solidFill>
                  <a:srgbClr val="00C9A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ChatAFL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523753" y="4331541"/>
            <a:ext cx="695501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2076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Understands protocol grammar via LLM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23753" y="5223777"/>
            <a:ext cx="695501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2076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Structure-aware, valid mutations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523753" y="6116012"/>
            <a:ext cx="695501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2076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Enriches seeds with new message types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523753" y="7008247"/>
            <a:ext cx="695501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2076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Breaks out of stalls using LLM hints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523753" y="7900483"/>
            <a:ext cx="695501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2076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Semantic protocol understanding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249842" y="9763115"/>
            <a:ext cx="915257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4A5A6A"/>
                </a:solidFill>
                <a:latin typeface="Calibri (MS)"/>
                <a:ea typeface="Calibri (MS)"/>
                <a:cs typeface="Calibri (MS)"/>
                <a:sym typeface="Calibri (MS)"/>
              </a:rPr>
              <a:t>5 / 17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919744"/>
            <a:ext cx="13543845" cy="915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1B2A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Three LLM-Powered Strategies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81571" y="2122875"/>
            <a:ext cx="16893407" cy="2411711"/>
            <a:chOff x="0" y="0"/>
            <a:chExt cx="22524542" cy="32156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" y="6350"/>
              <a:ext cx="22511893" cy="3202940"/>
            </a:xfrm>
            <a:custGeom>
              <a:avLst/>
              <a:gdLst/>
              <a:ahLst/>
              <a:cxnLst/>
              <a:rect r="r" b="b" t="t" l="l"/>
              <a:pathLst>
                <a:path h="3202940" w="22511893">
                  <a:moveTo>
                    <a:pt x="0" y="0"/>
                  </a:moveTo>
                  <a:lnTo>
                    <a:pt x="22511893" y="0"/>
                  </a:lnTo>
                  <a:lnTo>
                    <a:pt x="22511893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524593" cy="3215640"/>
            </a:xfrm>
            <a:custGeom>
              <a:avLst/>
              <a:gdLst/>
              <a:ahLst/>
              <a:cxnLst/>
              <a:rect r="r" b="b" t="t" l="l"/>
              <a:pathLst>
                <a:path h="3215640" w="22524593">
                  <a:moveTo>
                    <a:pt x="6350" y="0"/>
                  </a:moveTo>
                  <a:lnTo>
                    <a:pt x="22518243" y="0"/>
                  </a:lnTo>
                  <a:cubicBezTo>
                    <a:pt x="22521799" y="0"/>
                    <a:pt x="22524593" y="2794"/>
                    <a:pt x="22524593" y="6350"/>
                  </a:cubicBezTo>
                  <a:lnTo>
                    <a:pt x="22524593" y="3209290"/>
                  </a:lnTo>
                  <a:cubicBezTo>
                    <a:pt x="22524593" y="3212846"/>
                    <a:pt x="22521799" y="3215640"/>
                    <a:pt x="22518243" y="3215640"/>
                  </a:cubicBezTo>
                  <a:lnTo>
                    <a:pt x="6350" y="3215640"/>
                  </a:lnTo>
                  <a:cubicBezTo>
                    <a:pt x="2794" y="3215640"/>
                    <a:pt x="0" y="3212846"/>
                    <a:pt x="0" y="320929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3209290"/>
                  </a:lnTo>
                  <a:lnTo>
                    <a:pt x="6350" y="3209290"/>
                  </a:lnTo>
                  <a:lnTo>
                    <a:pt x="6350" y="3202940"/>
                  </a:lnTo>
                  <a:lnTo>
                    <a:pt x="22518243" y="3202940"/>
                  </a:lnTo>
                  <a:lnTo>
                    <a:pt x="22518243" y="3209290"/>
                  </a:lnTo>
                  <a:lnTo>
                    <a:pt x="22511893" y="3209290"/>
                  </a:lnTo>
                  <a:lnTo>
                    <a:pt x="22511893" y="6350"/>
                  </a:lnTo>
                  <a:lnTo>
                    <a:pt x="22518243" y="6350"/>
                  </a:lnTo>
                  <a:lnTo>
                    <a:pt x="22518243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20940" y="2702262"/>
            <a:ext cx="4621473" cy="573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B2A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Grammar Extraction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0940" y="3439297"/>
            <a:ext cx="4621473" cy="83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6B7A8D"/>
                </a:solidFill>
                <a:latin typeface="Calibri (MS)"/>
                <a:ea typeface="Calibri (MS)"/>
                <a:cs typeface="Calibri (MS)"/>
                <a:sym typeface="Calibri (MS)"/>
              </a:rPr>
              <a:t>At startup, ChatAFL asks the LLM to produce a machine-readable grammar for the target protocol.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240894" y="2397414"/>
            <a:ext cx="5088417" cy="764505"/>
            <a:chOff x="0" y="0"/>
            <a:chExt cx="6784556" cy="10193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6771894" cy="1006602"/>
            </a:xfrm>
            <a:custGeom>
              <a:avLst/>
              <a:gdLst/>
              <a:ahLst/>
              <a:cxnLst/>
              <a:rect r="r" b="b" t="t" l="l"/>
              <a:pathLst>
                <a:path h="1006602" w="6771894">
                  <a:moveTo>
                    <a:pt x="0" y="0"/>
                  </a:moveTo>
                  <a:lnTo>
                    <a:pt x="6771894" y="0"/>
                  </a:lnTo>
                  <a:lnTo>
                    <a:pt x="6771894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F0F4F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84594" cy="1019302"/>
            </a:xfrm>
            <a:custGeom>
              <a:avLst/>
              <a:gdLst/>
              <a:ahLst/>
              <a:cxnLst/>
              <a:rect r="r" b="b" t="t" l="l"/>
              <a:pathLst>
                <a:path h="1019302" w="6784594">
                  <a:moveTo>
                    <a:pt x="6350" y="0"/>
                  </a:moveTo>
                  <a:lnTo>
                    <a:pt x="6778244" y="0"/>
                  </a:lnTo>
                  <a:cubicBezTo>
                    <a:pt x="6781800" y="0"/>
                    <a:pt x="6784594" y="2794"/>
                    <a:pt x="6784594" y="6350"/>
                  </a:cubicBezTo>
                  <a:lnTo>
                    <a:pt x="6784594" y="1012952"/>
                  </a:lnTo>
                  <a:cubicBezTo>
                    <a:pt x="6784594" y="1016508"/>
                    <a:pt x="6781800" y="1019302"/>
                    <a:pt x="6778244" y="1019302"/>
                  </a:cubicBezTo>
                  <a:lnTo>
                    <a:pt x="6350" y="1019302"/>
                  </a:lnTo>
                  <a:cubicBezTo>
                    <a:pt x="2794" y="1019302"/>
                    <a:pt x="0" y="1016508"/>
                    <a:pt x="0" y="101295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012952"/>
                  </a:lnTo>
                  <a:lnTo>
                    <a:pt x="6350" y="1012952"/>
                  </a:lnTo>
                  <a:lnTo>
                    <a:pt x="6350" y="1006602"/>
                  </a:lnTo>
                  <a:lnTo>
                    <a:pt x="6778244" y="1006602"/>
                  </a:lnTo>
                  <a:lnTo>
                    <a:pt x="6778244" y="1012952"/>
                  </a:lnTo>
                  <a:lnTo>
                    <a:pt x="6771894" y="1012952"/>
                  </a:lnTo>
                  <a:lnTo>
                    <a:pt x="6771894" y="6350"/>
                  </a:lnTo>
                  <a:lnTo>
                    <a:pt x="6778244" y="6350"/>
                  </a:lnTo>
                  <a:lnTo>
                    <a:pt x="6778244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501822" y="2529135"/>
            <a:ext cx="4566571" cy="48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i="true">
                <a:solidFill>
                  <a:srgbClr val="0F1E2E"/>
                </a:solidFill>
                <a:latin typeface="Consolas Italics"/>
                <a:ea typeface="Consolas Italics"/>
                <a:cs typeface="Consolas Italics"/>
                <a:sym typeface="Consolas Italics"/>
              </a:rPr>
              <a:t>"What are all the message types in FTP?"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594316" y="2397414"/>
            <a:ext cx="5088417" cy="764505"/>
            <a:chOff x="0" y="0"/>
            <a:chExt cx="6784556" cy="10193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" y="6350"/>
              <a:ext cx="6771894" cy="1006602"/>
            </a:xfrm>
            <a:custGeom>
              <a:avLst/>
              <a:gdLst/>
              <a:ahLst/>
              <a:cxnLst/>
              <a:rect r="r" b="b" t="t" l="l"/>
              <a:pathLst>
                <a:path h="1006602" w="6771894">
                  <a:moveTo>
                    <a:pt x="0" y="0"/>
                  </a:moveTo>
                  <a:lnTo>
                    <a:pt x="6771894" y="0"/>
                  </a:lnTo>
                  <a:lnTo>
                    <a:pt x="6771894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F0F4F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84594" cy="1019302"/>
            </a:xfrm>
            <a:custGeom>
              <a:avLst/>
              <a:gdLst/>
              <a:ahLst/>
              <a:cxnLst/>
              <a:rect r="r" b="b" t="t" l="l"/>
              <a:pathLst>
                <a:path h="1019302" w="6784594">
                  <a:moveTo>
                    <a:pt x="6350" y="0"/>
                  </a:moveTo>
                  <a:lnTo>
                    <a:pt x="6778244" y="0"/>
                  </a:lnTo>
                  <a:cubicBezTo>
                    <a:pt x="6781800" y="0"/>
                    <a:pt x="6784594" y="2794"/>
                    <a:pt x="6784594" y="6350"/>
                  </a:cubicBezTo>
                  <a:lnTo>
                    <a:pt x="6784594" y="1012952"/>
                  </a:lnTo>
                  <a:cubicBezTo>
                    <a:pt x="6784594" y="1016508"/>
                    <a:pt x="6781800" y="1019302"/>
                    <a:pt x="6778244" y="1019302"/>
                  </a:cubicBezTo>
                  <a:lnTo>
                    <a:pt x="6350" y="1019302"/>
                  </a:lnTo>
                  <a:cubicBezTo>
                    <a:pt x="2794" y="1019302"/>
                    <a:pt x="0" y="1016508"/>
                    <a:pt x="0" y="101295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012952"/>
                  </a:lnTo>
                  <a:lnTo>
                    <a:pt x="6350" y="1012952"/>
                  </a:lnTo>
                  <a:lnTo>
                    <a:pt x="6350" y="1006602"/>
                  </a:lnTo>
                  <a:lnTo>
                    <a:pt x="6778244" y="1006602"/>
                  </a:lnTo>
                  <a:lnTo>
                    <a:pt x="6778244" y="1012952"/>
                  </a:lnTo>
                  <a:lnTo>
                    <a:pt x="6771894" y="1012952"/>
                  </a:lnTo>
                  <a:lnTo>
                    <a:pt x="6771894" y="6350"/>
                  </a:lnTo>
                  <a:lnTo>
                    <a:pt x="6778244" y="6350"/>
                  </a:lnTo>
                  <a:lnTo>
                    <a:pt x="6778244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855244" y="2529135"/>
            <a:ext cx="4566571" cy="48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i="true">
                <a:solidFill>
                  <a:srgbClr val="0F1E2E"/>
                </a:solidFill>
                <a:latin typeface="Consolas Italics"/>
                <a:ea typeface="Consolas Italics"/>
                <a:cs typeface="Consolas Italics"/>
                <a:sym typeface="Consolas Italics"/>
              </a:rPr>
              <a:t>"What are the fields and formats for each?"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240894" y="3358277"/>
            <a:ext cx="5088417" cy="764505"/>
            <a:chOff x="0" y="0"/>
            <a:chExt cx="6784556" cy="10193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" y="6350"/>
              <a:ext cx="6771894" cy="1006602"/>
            </a:xfrm>
            <a:custGeom>
              <a:avLst/>
              <a:gdLst/>
              <a:ahLst/>
              <a:cxnLst/>
              <a:rect r="r" b="b" t="t" l="l"/>
              <a:pathLst>
                <a:path h="1006602" w="6771894">
                  <a:moveTo>
                    <a:pt x="0" y="0"/>
                  </a:moveTo>
                  <a:lnTo>
                    <a:pt x="6771894" y="0"/>
                  </a:lnTo>
                  <a:lnTo>
                    <a:pt x="6771894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E8F5F2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84594" cy="1019302"/>
            </a:xfrm>
            <a:custGeom>
              <a:avLst/>
              <a:gdLst/>
              <a:ahLst/>
              <a:cxnLst/>
              <a:rect r="r" b="b" t="t" l="l"/>
              <a:pathLst>
                <a:path h="1019302" w="6784594">
                  <a:moveTo>
                    <a:pt x="6350" y="0"/>
                  </a:moveTo>
                  <a:lnTo>
                    <a:pt x="6778244" y="0"/>
                  </a:lnTo>
                  <a:cubicBezTo>
                    <a:pt x="6781800" y="0"/>
                    <a:pt x="6784594" y="2794"/>
                    <a:pt x="6784594" y="6350"/>
                  </a:cubicBezTo>
                  <a:lnTo>
                    <a:pt x="6784594" y="1012952"/>
                  </a:lnTo>
                  <a:cubicBezTo>
                    <a:pt x="6784594" y="1016508"/>
                    <a:pt x="6781800" y="1019302"/>
                    <a:pt x="6778244" y="1019302"/>
                  </a:cubicBezTo>
                  <a:lnTo>
                    <a:pt x="6350" y="1019302"/>
                  </a:lnTo>
                  <a:cubicBezTo>
                    <a:pt x="2794" y="1019302"/>
                    <a:pt x="0" y="1016508"/>
                    <a:pt x="0" y="101295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012952"/>
                  </a:lnTo>
                  <a:lnTo>
                    <a:pt x="6350" y="1012952"/>
                  </a:lnTo>
                  <a:lnTo>
                    <a:pt x="6350" y="1006602"/>
                  </a:lnTo>
                  <a:lnTo>
                    <a:pt x="6778244" y="1006602"/>
                  </a:lnTo>
                  <a:lnTo>
                    <a:pt x="6778244" y="1012952"/>
                  </a:lnTo>
                  <a:lnTo>
                    <a:pt x="6771894" y="1012952"/>
                  </a:lnTo>
                  <a:lnTo>
                    <a:pt x="6771894" y="6350"/>
                  </a:lnTo>
                  <a:lnTo>
                    <a:pt x="6778244" y="6350"/>
                  </a:lnTo>
                  <a:lnTo>
                    <a:pt x="6778244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501822" y="3499533"/>
            <a:ext cx="4566571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→ Fuzzer learns valid message structure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594316" y="3358277"/>
            <a:ext cx="5088417" cy="764505"/>
            <a:chOff x="0" y="0"/>
            <a:chExt cx="6784556" cy="10193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350" y="6350"/>
              <a:ext cx="6771894" cy="1006602"/>
            </a:xfrm>
            <a:custGeom>
              <a:avLst/>
              <a:gdLst/>
              <a:ahLst/>
              <a:cxnLst/>
              <a:rect r="r" b="b" t="t" l="l"/>
              <a:pathLst>
                <a:path h="1006602" w="6771894">
                  <a:moveTo>
                    <a:pt x="0" y="0"/>
                  </a:moveTo>
                  <a:lnTo>
                    <a:pt x="6771894" y="0"/>
                  </a:lnTo>
                  <a:lnTo>
                    <a:pt x="6771894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E8F5F2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84594" cy="1019302"/>
            </a:xfrm>
            <a:custGeom>
              <a:avLst/>
              <a:gdLst/>
              <a:ahLst/>
              <a:cxnLst/>
              <a:rect r="r" b="b" t="t" l="l"/>
              <a:pathLst>
                <a:path h="1019302" w="6784594">
                  <a:moveTo>
                    <a:pt x="6350" y="0"/>
                  </a:moveTo>
                  <a:lnTo>
                    <a:pt x="6778244" y="0"/>
                  </a:lnTo>
                  <a:cubicBezTo>
                    <a:pt x="6781800" y="0"/>
                    <a:pt x="6784594" y="2794"/>
                    <a:pt x="6784594" y="6350"/>
                  </a:cubicBezTo>
                  <a:lnTo>
                    <a:pt x="6784594" y="1012952"/>
                  </a:lnTo>
                  <a:cubicBezTo>
                    <a:pt x="6784594" y="1016508"/>
                    <a:pt x="6781800" y="1019302"/>
                    <a:pt x="6778244" y="1019302"/>
                  </a:cubicBezTo>
                  <a:lnTo>
                    <a:pt x="6350" y="1019302"/>
                  </a:lnTo>
                  <a:cubicBezTo>
                    <a:pt x="2794" y="1019302"/>
                    <a:pt x="0" y="1016508"/>
                    <a:pt x="0" y="101295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012952"/>
                  </a:lnTo>
                  <a:lnTo>
                    <a:pt x="6350" y="1012952"/>
                  </a:lnTo>
                  <a:lnTo>
                    <a:pt x="6350" y="1006602"/>
                  </a:lnTo>
                  <a:lnTo>
                    <a:pt x="6778244" y="1006602"/>
                  </a:lnTo>
                  <a:lnTo>
                    <a:pt x="6778244" y="1012952"/>
                  </a:lnTo>
                  <a:lnTo>
                    <a:pt x="6771894" y="1012952"/>
                  </a:lnTo>
                  <a:lnTo>
                    <a:pt x="6771894" y="6350"/>
                  </a:lnTo>
                  <a:lnTo>
                    <a:pt x="6778244" y="6350"/>
                  </a:lnTo>
                  <a:lnTo>
                    <a:pt x="6778244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1855244" y="3499533"/>
            <a:ext cx="4566571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→ Mutations stay semantically valid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81571" y="4703502"/>
            <a:ext cx="16893407" cy="2411711"/>
            <a:chOff x="0" y="0"/>
            <a:chExt cx="22524542" cy="321561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6350" y="6350"/>
              <a:ext cx="22511893" cy="3202940"/>
            </a:xfrm>
            <a:custGeom>
              <a:avLst/>
              <a:gdLst/>
              <a:ahLst/>
              <a:cxnLst/>
              <a:rect r="r" b="b" t="t" l="l"/>
              <a:pathLst>
                <a:path h="3202940" w="22511893">
                  <a:moveTo>
                    <a:pt x="0" y="0"/>
                  </a:moveTo>
                  <a:lnTo>
                    <a:pt x="22511893" y="0"/>
                  </a:lnTo>
                  <a:lnTo>
                    <a:pt x="22511893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524593" cy="3215640"/>
            </a:xfrm>
            <a:custGeom>
              <a:avLst/>
              <a:gdLst/>
              <a:ahLst/>
              <a:cxnLst/>
              <a:rect r="r" b="b" t="t" l="l"/>
              <a:pathLst>
                <a:path h="3215640" w="22524593">
                  <a:moveTo>
                    <a:pt x="6350" y="0"/>
                  </a:moveTo>
                  <a:lnTo>
                    <a:pt x="22518243" y="0"/>
                  </a:lnTo>
                  <a:cubicBezTo>
                    <a:pt x="22521799" y="0"/>
                    <a:pt x="22524593" y="2794"/>
                    <a:pt x="22524593" y="6350"/>
                  </a:cubicBezTo>
                  <a:lnTo>
                    <a:pt x="22524593" y="3209290"/>
                  </a:lnTo>
                  <a:cubicBezTo>
                    <a:pt x="22524593" y="3212846"/>
                    <a:pt x="22521799" y="3215640"/>
                    <a:pt x="22518243" y="3215640"/>
                  </a:cubicBezTo>
                  <a:lnTo>
                    <a:pt x="6350" y="3215640"/>
                  </a:lnTo>
                  <a:cubicBezTo>
                    <a:pt x="2794" y="3215640"/>
                    <a:pt x="0" y="3212846"/>
                    <a:pt x="0" y="320929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3209290"/>
                  </a:lnTo>
                  <a:lnTo>
                    <a:pt x="6350" y="3209290"/>
                  </a:lnTo>
                  <a:lnTo>
                    <a:pt x="6350" y="3202940"/>
                  </a:lnTo>
                  <a:lnTo>
                    <a:pt x="22518243" y="3202940"/>
                  </a:lnTo>
                  <a:lnTo>
                    <a:pt x="22518243" y="3209290"/>
                  </a:lnTo>
                  <a:lnTo>
                    <a:pt x="22511893" y="3209290"/>
                  </a:lnTo>
                  <a:lnTo>
                    <a:pt x="22511893" y="6350"/>
                  </a:lnTo>
                  <a:lnTo>
                    <a:pt x="22518243" y="6350"/>
                  </a:lnTo>
                  <a:lnTo>
                    <a:pt x="22518243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20940" y="5282879"/>
            <a:ext cx="4621473" cy="573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B2A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Seed Enrichment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20940" y="6019924"/>
            <a:ext cx="4621473" cy="83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6B7A8D"/>
                </a:solidFill>
                <a:latin typeface="Calibri (MS)"/>
                <a:ea typeface="Calibri (MS)"/>
                <a:cs typeface="Calibri (MS)"/>
                <a:sym typeface="Calibri (MS)"/>
              </a:rPr>
              <a:t>The LLM reviews existing seed messages and generates additional message types the fuzzer hasn't tried.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240894" y="4978032"/>
            <a:ext cx="5088417" cy="764505"/>
            <a:chOff x="0" y="0"/>
            <a:chExt cx="6784556" cy="10193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50" y="6350"/>
              <a:ext cx="6771894" cy="1006602"/>
            </a:xfrm>
            <a:custGeom>
              <a:avLst/>
              <a:gdLst/>
              <a:ahLst/>
              <a:cxnLst/>
              <a:rect r="r" b="b" t="t" l="l"/>
              <a:pathLst>
                <a:path h="1006602" w="6771894">
                  <a:moveTo>
                    <a:pt x="0" y="0"/>
                  </a:moveTo>
                  <a:lnTo>
                    <a:pt x="6771894" y="0"/>
                  </a:lnTo>
                  <a:lnTo>
                    <a:pt x="6771894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F0F4FA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784594" cy="1019302"/>
            </a:xfrm>
            <a:custGeom>
              <a:avLst/>
              <a:gdLst/>
              <a:ahLst/>
              <a:cxnLst/>
              <a:rect r="r" b="b" t="t" l="l"/>
              <a:pathLst>
                <a:path h="1019302" w="6784594">
                  <a:moveTo>
                    <a:pt x="6350" y="0"/>
                  </a:moveTo>
                  <a:lnTo>
                    <a:pt x="6778244" y="0"/>
                  </a:lnTo>
                  <a:cubicBezTo>
                    <a:pt x="6781800" y="0"/>
                    <a:pt x="6784594" y="2794"/>
                    <a:pt x="6784594" y="6350"/>
                  </a:cubicBezTo>
                  <a:lnTo>
                    <a:pt x="6784594" y="1012952"/>
                  </a:lnTo>
                  <a:cubicBezTo>
                    <a:pt x="6784594" y="1016508"/>
                    <a:pt x="6781800" y="1019302"/>
                    <a:pt x="6778244" y="1019302"/>
                  </a:cubicBezTo>
                  <a:lnTo>
                    <a:pt x="6350" y="1019302"/>
                  </a:lnTo>
                  <a:cubicBezTo>
                    <a:pt x="2794" y="1019302"/>
                    <a:pt x="0" y="1016508"/>
                    <a:pt x="0" y="101295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012952"/>
                  </a:lnTo>
                  <a:lnTo>
                    <a:pt x="6350" y="1012952"/>
                  </a:lnTo>
                  <a:lnTo>
                    <a:pt x="6350" y="1006602"/>
                  </a:lnTo>
                  <a:lnTo>
                    <a:pt x="6778244" y="1006602"/>
                  </a:lnTo>
                  <a:lnTo>
                    <a:pt x="6778244" y="1012952"/>
                  </a:lnTo>
                  <a:lnTo>
                    <a:pt x="6771894" y="1012952"/>
                  </a:lnTo>
                  <a:lnTo>
                    <a:pt x="6771894" y="6350"/>
                  </a:lnTo>
                  <a:lnTo>
                    <a:pt x="6778244" y="6350"/>
                  </a:lnTo>
                  <a:lnTo>
                    <a:pt x="6778244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6501822" y="5109762"/>
            <a:ext cx="4566571" cy="48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i="true">
                <a:solidFill>
                  <a:srgbClr val="0F1E2E"/>
                </a:solidFill>
                <a:latin typeface="Consolas Italics"/>
                <a:ea typeface="Consolas Italics"/>
                <a:cs typeface="Consolas Italics"/>
                <a:sym typeface="Consolas Italics"/>
              </a:rPr>
              <a:t>"Here are my existing FTP messages…"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594316" y="4978032"/>
            <a:ext cx="5088417" cy="764505"/>
            <a:chOff x="0" y="0"/>
            <a:chExt cx="6784556" cy="10193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6350" y="6350"/>
              <a:ext cx="6771894" cy="1006602"/>
            </a:xfrm>
            <a:custGeom>
              <a:avLst/>
              <a:gdLst/>
              <a:ahLst/>
              <a:cxnLst/>
              <a:rect r="r" b="b" t="t" l="l"/>
              <a:pathLst>
                <a:path h="1006602" w="6771894">
                  <a:moveTo>
                    <a:pt x="0" y="0"/>
                  </a:moveTo>
                  <a:lnTo>
                    <a:pt x="6771894" y="0"/>
                  </a:lnTo>
                  <a:lnTo>
                    <a:pt x="6771894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F0F4FA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784594" cy="1019302"/>
            </a:xfrm>
            <a:custGeom>
              <a:avLst/>
              <a:gdLst/>
              <a:ahLst/>
              <a:cxnLst/>
              <a:rect r="r" b="b" t="t" l="l"/>
              <a:pathLst>
                <a:path h="1019302" w="6784594">
                  <a:moveTo>
                    <a:pt x="6350" y="0"/>
                  </a:moveTo>
                  <a:lnTo>
                    <a:pt x="6778244" y="0"/>
                  </a:lnTo>
                  <a:cubicBezTo>
                    <a:pt x="6781800" y="0"/>
                    <a:pt x="6784594" y="2794"/>
                    <a:pt x="6784594" y="6350"/>
                  </a:cubicBezTo>
                  <a:lnTo>
                    <a:pt x="6784594" y="1012952"/>
                  </a:lnTo>
                  <a:cubicBezTo>
                    <a:pt x="6784594" y="1016508"/>
                    <a:pt x="6781800" y="1019302"/>
                    <a:pt x="6778244" y="1019302"/>
                  </a:cubicBezTo>
                  <a:lnTo>
                    <a:pt x="6350" y="1019302"/>
                  </a:lnTo>
                  <a:cubicBezTo>
                    <a:pt x="2794" y="1019302"/>
                    <a:pt x="0" y="1016508"/>
                    <a:pt x="0" y="101295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012952"/>
                  </a:lnTo>
                  <a:lnTo>
                    <a:pt x="6350" y="1012952"/>
                  </a:lnTo>
                  <a:lnTo>
                    <a:pt x="6350" y="1006602"/>
                  </a:lnTo>
                  <a:lnTo>
                    <a:pt x="6778244" y="1006602"/>
                  </a:lnTo>
                  <a:lnTo>
                    <a:pt x="6778244" y="1012952"/>
                  </a:lnTo>
                  <a:lnTo>
                    <a:pt x="6771894" y="1012952"/>
                  </a:lnTo>
                  <a:lnTo>
                    <a:pt x="6771894" y="6350"/>
                  </a:lnTo>
                  <a:lnTo>
                    <a:pt x="6778244" y="6350"/>
                  </a:lnTo>
                  <a:lnTo>
                    <a:pt x="6778244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1855244" y="5109762"/>
            <a:ext cx="4566571" cy="48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i="true">
                <a:solidFill>
                  <a:srgbClr val="0F1E2E"/>
                </a:solidFill>
                <a:latin typeface="Consolas Italics"/>
                <a:ea typeface="Consolas Italics"/>
                <a:cs typeface="Consolas Italics"/>
                <a:sym typeface="Consolas Italics"/>
              </a:rPr>
              <a:t>"What other messages could appear here?"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6240894" y="5938904"/>
            <a:ext cx="5088417" cy="764505"/>
            <a:chOff x="0" y="0"/>
            <a:chExt cx="6784556" cy="10193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6350" y="6350"/>
              <a:ext cx="6771894" cy="1006602"/>
            </a:xfrm>
            <a:custGeom>
              <a:avLst/>
              <a:gdLst/>
              <a:ahLst/>
              <a:cxnLst/>
              <a:rect r="r" b="b" t="t" l="l"/>
              <a:pathLst>
                <a:path h="1006602" w="6771894">
                  <a:moveTo>
                    <a:pt x="0" y="0"/>
                  </a:moveTo>
                  <a:lnTo>
                    <a:pt x="6771894" y="0"/>
                  </a:lnTo>
                  <a:lnTo>
                    <a:pt x="6771894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E8F5F2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784594" cy="1019302"/>
            </a:xfrm>
            <a:custGeom>
              <a:avLst/>
              <a:gdLst/>
              <a:ahLst/>
              <a:cxnLst/>
              <a:rect r="r" b="b" t="t" l="l"/>
              <a:pathLst>
                <a:path h="1019302" w="6784594">
                  <a:moveTo>
                    <a:pt x="6350" y="0"/>
                  </a:moveTo>
                  <a:lnTo>
                    <a:pt x="6778244" y="0"/>
                  </a:lnTo>
                  <a:cubicBezTo>
                    <a:pt x="6781800" y="0"/>
                    <a:pt x="6784594" y="2794"/>
                    <a:pt x="6784594" y="6350"/>
                  </a:cubicBezTo>
                  <a:lnTo>
                    <a:pt x="6784594" y="1012952"/>
                  </a:lnTo>
                  <a:cubicBezTo>
                    <a:pt x="6784594" y="1016508"/>
                    <a:pt x="6781800" y="1019302"/>
                    <a:pt x="6778244" y="1019302"/>
                  </a:cubicBezTo>
                  <a:lnTo>
                    <a:pt x="6350" y="1019302"/>
                  </a:lnTo>
                  <a:cubicBezTo>
                    <a:pt x="2794" y="1019302"/>
                    <a:pt x="0" y="1016508"/>
                    <a:pt x="0" y="101295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012952"/>
                  </a:lnTo>
                  <a:lnTo>
                    <a:pt x="6350" y="1012952"/>
                  </a:lnTo>
                  <a:lnTo>
                    <a:pt x="6350" y="1006602"/>
                  </a:lnTo>
                  <a:lnTo>
                    <a:pt x="6778244" y="1006602"/>
                  </a:lnTo>
                  <a:lnTo>
                    <a:pt x="6778244" y="1012952"/>
                  </a:lnTo>
                  <a:lnTo>
                    <a:pt x="6771894" y="1012952"/>
                  </a:lnTo>
                  <a:lnTo>
                    <a:pt x="6771894" y="6350"/>
                  </a:lnTo>
                  <a:lnTo>
                    <a:pt x="6778244" y="6350"/>
                  </a:lnTo>
                  <a:lnTo>
                    <a:pt x="6778244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6501822" y="6080160"/>
            <a:ext cx="4566571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→ 50+ FTP commands instead of just 3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1594316" y="5938904"/>
            <a:ext cx="5088417" cy="764505"/>
            <a:chOff x="0" y="0"/>
            <a:chExt cx="6784556" cy="10193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6350" y="6350"/>
              <a:ext cx="6771894" cy="1006602"/>
            </a:xfrm>
            <a:custGeom>
              <a:avLst/>
              <a:gdLst/>
              <a:ahLst/>
              <a:cxnLst/>
              <a:rect r="r" b="b" t="t" l="l"/>
              <a:pathLst>
                <a:path h="1006602" w="6771894">
                  <a:moveTo>
                    <a:pt x="0" y="0"/>
                  </a:moveTo>
                  <a:lnTo>
                    <a:pt x="6771894" y="0"/>
                  </a:lnTo>
                  <a:lnTo>
                    <a:pt x="6771894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E8F5F2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784594" cy="1019302"/>
            </a:xfrm>
            <a:custGeom>
              <a:avLst/>
              <a:gdLst/>
              <a:ahLst/>
              <a:cxnLst/>
              <a:rect r="r" b="b" t="t" l="l"/>
              <a:pathLst>
                <a:path h="1019302" w="6784594">
                  <a:moveTo>
                    <a:pt x="6350" y="0"/>
                  </a:moveTo>
                  <a:lnTo>
                    <a:pt x="6778244" y="0"/>
                  </a:lnTo>
                  <a:cubicBezTo>
                    <a:pt x="6781800" y="0"/>
                    <a:pt x="6784594" y="2794"/>
                    <a:pt x="6784594" y="6350"/>
                  </a:cubicBezTo>
                  <a:lnTo>
                    <a:pt x="6784594" y="1012952"/>
                  </a:lnTo>
                  <a:cubicBezTo>
                    <a:pt x="6784594" y="1016508"/>
                    <a:pt x="6781800" y="1019302"/>
                    <a:pt x="6778244" y="1019302"/>
                  </a:cubicBezTo>
                  <a:lnTo>
                    <a:pt x="6350" y="1019302"/>
                  </a:lnTo>
                  <a:cubicBezTo>
                    <a:pt x="2794" y="1019302"/>
                    <a:pt x="0" y="1016508"/>
                    <a:pt x="0" y="101295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012952"/>
                  </a:lnTo>
                  <a:lnTo>
                    <a:pt x="6350" y="1012952"/>
                  </a:lnTo>
                  <a:lnTo>
                    <a:pt x="6350" y="1006602"/>
                  </a:lnTo>
                  <a:lnTo>
                    <a:pt x="6778244" y="1006602"/>
                  </a:lnTo>
                  <a:lnTo>
                    <a:pt x="6778244" y="1012952"/>
                  </a:lnTo>
                  <a:lnTo>
                    <a:pt x="6771894" y="1012952"/>
                  </a:lnTo>
                  <a:lnTo>
                    <a:pt x="6771894" y="6350"/>
                  </a:lnTo>
                  <a:lnTo>
                    <a:pt x="6778244" y="6350"/>
                  </a:lnTo>
                  <a:lnTo>
                    <a:pt x="6778244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1855244" y="6080160"/>
            <a:ext cx="4566571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→ Much wider initial coverage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681571" y="7284120"/>
            <a:ext cx="16893407" cy="2411711"/>
            <a:chOff x="0" y="0"/>
            <a:chExt cx="22524542" cy="321561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6350" y="6350"/>
              <a:ext cx="22511893" cy="3202940"/>
            </a:xfrm>
            <a:custGeom>
              <a:avLst/>
              <a:gdLst/>
              <a:ahLst/>
              <a:cxnLst/>
              <a:rect r="r" b="b" t="t" l="l"/>
              <a:pathLst>
                <a:path h="3202940" w="22511893">
                  <a:moveTo>
                    <a:pt x="0" y="0"/>
                  </a:moveTo>
                  <a:lnTo>
                    <a:pt x="22511893" y="0"/>
                  </a:lnTo>
                  <a:lnTo>
                    <a:pt x="22511893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524593" cy="3215640"/>
            </a:xfrm>
            <a:custGeom>
              <a:avLst/>
              <a:gdLst/>
              <a:ahLst/>
              <a:cxnLst/>
              <a:rect r="r" b="b" t="t" l="l"/>
              <a:pathLst>
                <a:path h="3215640" w="22524593">
                  <a:moveTo>
                    <a:pt x="6350" y="0"/>
                  </a:moveTo>
                  <a:lnTo>
                    <a:pt x="22518243" y="0"/>
                  </a:lnTo>
                  <a:cubicBezTo>
                    <a:pt x="22521799" y="0"/>
                    <a:pt x="22524593" y="2794"/>
                    <a:pt x="22524593" y="6350"/>
                  </a:cubicBezTo>
                  <a:lnTo>
                    <a:pt x="22524593" y="3209290"/>
                  </a:lnTo>
                  <a:cubicBezTo>
                    <a:pt x="22524593" y="3212846"/>
                    <a:pt x="22521799" y="3215640"/>
                    <a:pt x="22518243" y="3215640"/>
                  </a:cubicBezTo>
                  <a:lnTo>
                    <a:pt x="6350" y="3215640"/>
                  </a:lnTo>
                  <a:cubicBezTo>
                    <a:pt x="2794" y="3215640"/>
                    <a:pt x="0" y="3212846"/>
                    <a:pt x="0" y="320929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3209290"/>
                  </a:lnTo>
                  <a:lnTo>
                    <a:pt x="6350" y="3209290"/>
                  </a:lnTo>
                  <a:lnTo>
                    <a:pt x="6350" y="3202940"/>
                  </a:lnTo>
                  <a:lnTo>
                    <a:pt x="22518243" y="3202940"/>
                  </a:lnTo>
                  <a:lnTo>
                    <a:pt x="22518243" y="3209290"/>
                  </a:lnTo>
                  <a:lnTo>
                    <a:pt x="22511893" y="3209290"/>
                  </a:lnTo>
                  <a:lnTo>
                    <a:pt x="22511893" y="6350"/>
                  </a:lnTo>
                  <a:lnTo>
                    <a:pt x="22518243" y="6350"/>
                  </a:lnTo>
                  <a:lnTo>
                    <a:pt x="22518243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120940" y="7863507"/>
            <a:ext cx="4621473" cy="573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B2A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Stall Breaking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20940" y="8600551"/>
            <a:ext cx="4621473" cy="83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6B7A8D"/>
                </a:solidFill>
                <a:latin typeface="Calibri (MS)"/>
                <a:ea typeface="Calibri (MS)"/>
                <a:cs typeface="Calibri (MS)"/>
                <a:sym typeface="Calibri (MS)"/>
              </a:rPr>
              <a:t>When stuck in a coverage plateau, ChatAFL asks the LLM how to transition to a new server state.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6240894" y="7558659"/>
            <a:ext cx="5088417" cy="764505"/>
            <a:chOff x="0" y="0"/>
            <a:chExt cx="6784556" cy="10193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6350" y="6350"/>
              <a:ext cx="6771894" cy="1006602"/>
            </a:xfrm>
            <a:custGeom>
              <a:avLst/>
              <a:gdLst/>
              <a:ahLst/>
              <a:cxnLst/>
              <a:rect r="r" b="b" t="t" l="l"/>
              <a:pathLst>
                <a:path h="1006602" w="6771894">
                  <a:moveTo>
                    <a:pt x="0" y="0"/>
                  </a:moveTo>
                  <a:lnTo>
                    <a:pt x="6771894" y="0"/>
                  </a:lnTo>
                  <a:lnTo>
                    <a:pt x="6771894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F0F4FA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784594" cy="1019302"/>
            </a:xfrm>
            <a:custGeom>
              <a:avLst/>
              <a:gdLst/>
              <a:ahLst/>
              <a:cxnLst/>
              <a:rect r="r" b="b" t="t" l="l"/>
              <a:pathLst>
                <a:path h="1019302" w="6784594">
                  <a:moveTo>
                    <a:pt x="6350" y="0"/>
                  </a:moveTo>
                  <a:lnTo>
                    <a:pt x="6778244" y="0"/>
                  </a:lnTo>
                  <a:cubicBezTo>
                    <a:pt x="6781800" y="0"/>
                    <a:pt x="6784594" y="2794"/>
                    <a:pt x="6784594" y="6350"/>
                  </a:cubicBezTo>
                  <a:lnTo>
                    <a:pt x="6784594" y="1012952"/>
                  </a:lnTo>
                  <a:cubicBezTo>
                    <a:pt x="6784594" y="1016508"/>
                    <a:pt x="6781800" y="1019302"/>
                    <a:pt x="6778244" y="1019302"/>
                  </a:cubicBezTo>
                  <a:lnTo>
                    <a:pt x="6350" y="1019302"/>
                  </a:lnTo>
                  <a:cubicBezTo>
                    <a:pt x="2794" y="1019302"/>
                    <a:pt x="0" y="1016508"/>
                    <a:pt x="0" y="101295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012952"/>
                  </a:lnTo>
                  <a:lnTo>
                    <a:pt x="6350" y="1012952"/>
                  </a:lnTo>
                  <a:lnTo>
                    <a:pt x="6350" y="1006602"/>
                  </a:lnTo>
                  <a:lnTo>
                    <a:pt x="6778244" y="1006602"/>
                  </a:lnTo>
                  <a:lnTo>
                    <a:pt x="6778244" y="1012952"/>
                  </a:lnTo>
                  <a:lnTo>
                    <a:pt x="6771894" y="1012952"/>
                  </a:lnTo>
                  <a:lnTo>
                    <a:pt x="6771894" y="6350"/>
                  </a:lnTo>
                  <a:lnTo>
                    <a:pt x="6778244" y="6350"/>
                  </a:lnTo>
                  <a:lnTo>
                    <a:pt x="6778244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6501822" y="7690380"/>
            <a:ext cx="4566571" cy="48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i="true">
                <a:solidFill>
                  <a:srgbClr val="0F1E2E"/>
                </a:solidFill>
                <a:latin typeface="Consolas Italics"/>
                <a:ea typeface="Consolas Italics"/>
                <a:cs typeface="Consolas Italics"/>
                <a:sym typeface="Consolas Italics"/>
              </a:rPr>
              <a:t>"I keep seeing state X. How do I get to Y?"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1594316" y="7558659"/>
            <a:ext cx="5088417" cy="764505"/>
            <a:chOff x="0" y="0"/>
            <a:chExt cx="6784556" cy="10193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6350" y="6350"/>
              <a:ext cx="6771894" cy="1006602"/>
            </a:xfrm>
            <a:custGeom>
              <a:avLst/>
              <a:gdLst/>
              <a:ahLst/>
              <a:cxnLst/>
              <a:rect r="r" b="b" t="t" l="l"/>
              <a:pathLst>
                <a:path h="1006602" w="6771894">
                  <a:moveTo>
                    <a:pt x="0" y="0"/>
                  </a:moveTo>
                  <a:lnTo>
                    <a:pt x="6771894" y="0"/>
                  </a:lnTo>
                  <a:lnTo>
                    <a:pt x="6771894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F0F4FA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784594" cy="1019302"/>
            </a:xfrm>
            <a:custGeom>
              <a:avLst/>
              <a:gdLst/>
              <a:ahLst/>
              <a:cxnLst/>
              <a:rect r="r" b="b" t="t" l="l"/>
              <a:pathLst>
                <a:path h="1019302" w="6784594">
                  <a:moveTo>
                    <a:pt x="6350" y="0"/>
                  </a:moveTo>
                  <a:lnTo>
                    <a:pt x="6778244" y="0"/>
                  </a:lnTo>
                  <a:cubicBezTo>
                    <a:pt x="6781800" y="0"/>
                    <a:pt x="6784594" y="2794"/>
                    <a:pt x="6784594" y="6350"/>
                  </a:cubicBezTo>
                  <a:lnTo>
                    <a:pt x="6784594" y="1012952"/>
                  </a:lnTo>
                  <a:cubicBezTo>
                    <a:pt x="6784594" y="1016508"/>
                    <a:pt x="6781800" y="1019302"/>
                    <a:pt x="6778244" y="1019302"/>
                  </a:cubicBezTo>
                  <a:lnTo>
                    <a:pt x="6350" y="1019302"/>
                  </a:lnTo>
                  <a:cubicBezTo>
                    <a:pt x="2794" y="1019302"/>
                    <a:pt x="0" y="1016508"/>
                    <a:pt x="0" y="101295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012952"/>
                  </a:lnTo>
                  <a:lnTo>
                    <a:pt x="6350" y="1012952"/>
                  </a:lnTo>
                  <a:lnTo>
                    <a:pt x="6350" y="1006602"/>
                  </a:lnTo>
                  <a:lnTo>
                    <a:pt x="6778244" y="1006602"/>
                  </a:lnTo>
                  <a:lnTo>
                    <a:pt x="6778244" y="1012952"/>
                  </a:lnTo>
                  <a:lnTo>
                    <a:pt x="6771894" y="1012952"/>
                  </a:lnTo>
                  <a:lnTo>
                    <a:pt x="6771894" y="6350"/>
                  </a:lnTo>
                  <a:lnTo>
                    <a:pt x="6778244" y="6350"/>
                  </a:lnTo>
                  <a:lnTo>
                    <a:pt x="6778244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1855244" y="7690380"/>
            <a:ext cx="4566571" cy="48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i="true">
                <a:solidFill>
                  <a:srgbClr val="0F1E2E"/>
                </a:solidFill>
                <a:latin typeface="Consolas Italics"/>
                <a:ea typeface="Consolas Italics"/>
                <a:cs typeface="Consolas Italics"/>
                <a:sym typeface="Consolas Italics"/>
              </a:rPr>
              <a:t>"What message triggers a new server state?"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6240894" y="8519531"/>
            <a:ext cx="5088417" cy="764505"/>
            <a:chOff x="0" y="0"/>
            <a:chExt cx="6784556" cy="10193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6350" y="6350"/>
              <a:ext cx="6771894" cy="1006602"/>
            </a:xfrm>
            <a:custGeom>
              <a:avLst/>
              <a:gdLst/>
              <a:ahLst/>
              <a:cxnLst/>
              <a:rect r="r" b="b" t="t" l="l"/>
              <a:pathLst>
                <a:path h="1006602" w="6771894">
                  <a:moveTo>
                    <a:pt x="0" y="0"/>
                  </a:moveTo>
                  <a:lnTo>
                    <a:pt x="6771894" y="0"/>
                  </a:lnTo>
                  <a:lnTo>
                    <a:pt x="6771894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E8F5F2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784594" cy="1019302"/>
            </a:xfrm>
            <a:custGeom>
              <a:avLst/>
              <a:gdLst/>
              <a:ahLst/>
              <a:cxnLst/>
              <a:rect r="r" b="b" t="t" l="l"/>
              <a:pathLst>
                <a:path h="1019302" w="6784594">
                  <a:moveTo>
                    <a:pt x="6350" y="0"/>
                  </a:moveTo>
                  <a:lnTo>
                    <a:pt x="6778244" y="0"/>
                  </a:lnTo>
                  <a:cubicBezTo>
                    <a:pt x="6781800" y="0"/>
                    <a:pt x="6784594" y="2794"/>
                    <a:pt x="6784594" y="6350"/>
                  </a:cubicBezTo>
                  <a:lnTo>
                    <a:pt x="6784594" y="1012952"/>
                  </a:lnTo>
                  <a:cubicBezTo>
                    <a:pt x="6784594" y="1016508"/>
                    <a:pt x="6781800" y="1019302"/>
                    <a:pt x="6778244" y="1019302"/>
                  </a:cubicBezTo>
                  <a:lnTo>
                    <a:pt x="6350" y="1019302"/>
                  </a:lnTo>
                  <a:cubicBezTo>
                    <a:pt x="2794" y="1019302"/>
                    <a:pt x="0" y="1016508"/>
                    <a:pt x="0" y="101295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012952"/>
                  </a:lnTo>
                  <a:lnTo>
                    <a:pt x="6350" y="1012952"/>
                  </a:lnTo>
                  <a:lnTo>
                    <a:pt x="6350" y="1006602"/>
                  </a:lnTo>
                  <a:lnTo>
                    <a:pt x="6778244" y="1006602"/>
                  </a:lnTo>
                  <a:lnTo>
                    <a:pt x="6778244" y="1012952"/>
                  </a:lnTo>
                  <a:lnTo>
                    <a:pt x="6771894" y="1012952"/>
                  </a:lnTo>
                  <a:lnTo>
                    <a:pt x="6771894" y="6350"/>
                  </a:lnTo>
                  <a:lnTo>
                    <a:pt x="6778244" y="6350"/>
                  </a:lnTo>
                  <a:lnTo>
                    <a:pt x="6778244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6501822" y="8660778"/>
            <a:ext cx="4566571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→ Breaks out of dead-end coverage loops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1594316" y="8519531"/>
            <a:ext cx="5088417" cy="764505"/>
            <a:chOff x="0" y="0"/>
            <a:chExt cx="6784556" cy="10193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6350" y="6350"/>
              <a:ext cx="6771894" cy="1006602"/>
            </a:xfrm>
            <a:custGeom>
              <a:avLst/>
              <a:gdLst/>
              <a:ahLst/>
              <a:cxnLst/>
              <a:rect r="r" b="b" t="t" l="l"/>
              <a:pathLst>
                <a:path h="1006602" w="6771894">
                  <a:moveTo>
                    <a:pt x="0" y="0"/>
                  </a:moveTo>
                  <a:lnTo>
                    <a:pt x="6771894" y="0"/>
                  </a:lnTo>
                  <a:lnTo>
                    <a:pt x="6771894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E8F5F2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784594" cy="1019302"/>
            </a:xfrm>
            <a:custGeom>
              <a:avLst/>
              <a:gdLst/>
              <a:ahLst/>
              <a:cxnLst/>
              <a:rect r="r" b="b" t="t" l="l"/>
              <a:pathLst>
                <a:path h="1019302" w="6784594">
                  <a:moveTo>
                    <a:pt x="6350" y="0"/>
                  </a:moveTo>
                  <a:lnTo>
                    <a:pt x="6778244" y="0"/>
                  </a:lnTo>
                  <a:cubicBezTo>
                    <a:pt x="6781800" y="0"/>
                    <a:pt x="6784594" y="2794"/>
                    <a:pt x="6784594" y="6350"/>
                  </a:cubicBezTo>
                  <a:lnTo>
                    <a:pt x="6784594" y="1012952"/>
                  </a:lnTo>
                  <a:cubicBezTo>
                    <a:pt x="6784594" y="1016508"/>
                    <a:pt x="6781800" y="1019302"/>
                    <a:pt x="6778244" y="1019302"/>
                  </a:cubicBezTo>
                  <a:lnTo>
                    <a:pt x="6350" y="1019302"/>
                  </a:lnTo>
                  <a:cubicBezTo>
                    <a:pt x="2794" y="1019302"/>
                    <a:pt x="0" y="1016508"/>
                    <a:pt x="0" y="101295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012952"/>
                  </a:lnTo>
                  <a:lnTo>
                    <a:pt x="6350" y="1012952"/>
                  </a:lnTo>
                  <a:lnTo>
                    <a:pt x="6350" y="1006602"/>
                  </a:lnTo>
                  <a:lnTo>
                    <a:pt x="6778244" y="1006602"/>
                  </a:lnTo>
                  <a:lnTo>
                    <a:pt x="6778244" y="1012952"/>
                  </a:lnTo>
                  <a:lnTo>
                    <a:pt x="6771894" y="1012952"/>
                  </a:lnTo>
                  <a:lnTo>
                    <a:pt x="6771894" y="6350"/>
                  </a:lnTo>
                  <a:lnTo>
                    <a:pt x="6778244" y="6350"/>
                  </a:lnTo>
                  <a:lnTo>
                    <a:pt x="6778244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11855244" y="8660778"/>
            <a:ext cx="4566571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→ Reaches deeper server logic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7249842" y="9763115"/>
            <a:ext cx="915257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4A5A6A"/>
                </a:solidFill>
                <a:latin typeface="Calibri (MS)"/>
                <a:ea typeface="Calibri (MS)"/>
                <a:cs typeface="Calibri (MS)"/>
                <a:sym typeface="Calibri (MS)"/>
              </a:rPr>
              <a:t>6 / 17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1571" y="2054238"/>
            <a:ext cx="9618240" cy="7627868"/>
            <a:chOff x="0" y="0"/>
            <a:chExt cx="12824320" cy="101704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" y="6350"/>
              <a:ext cx="12811633" cy="10157841"/>
            </a:xfrm>
            <a:custGeom>
              <a:avLst/>
              <a:gdLst/>
              <a:ahLst/>
              <a:cxnLst/>
              <a:rect r="r" b="b" t="t" l="l"/>
              <a:pathLst>
                <a:path h="10157841" w="12811633">
                  <a:moveTo>
                    <a:pt x="0" y="0"/>
                  </a:moveTo>
                  <a:lnTo>
                    <a:pt x="12811633" y="0"/>
                  </a:lnTo>
                  <a:lnTo>
                    <a:pt x="12811633" y="10157841"/>
                  </a:lnTo>
                  <a:lnTo>
                    <a:pt x="0" y="1015784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33" cy="10170541"/>
            </a:xfrm>
            <a:custGeom>
              <a:avLst/>
              <a:gdLst/>
              <a:ahLst/>
              <a:cxnLst/>
              <a:rect r="r" b="b" t="t" l="l"/>
              <a:pathLst>
                <a:path h="10170541" w="12824333">
                  <a:moveTo>
                    <a:pt x="6350" y="0"/>
                  </a:moveTo>
                  <a:lnTo>
                    <a:pt x="12817983" y="0"/>
                  </a:lnTo>
                  <a:cubicBezTo>
                    <a:pt x="12821539" y="0"/>
                    <a:pt x="12824333" y="2794"/>
                    <a:pt x="12824333" y="6350"/>
                  </a:cubicBezTo>
                  <a:lnTo>
                    <a:pt x="12824333" y="10164191"/>
                  </a:lnTo>
                  <a:cubicBezTo>
                    <a:pt x="12824333" y="10167748"/>
                    <a:pt x="12821539" y="10170541"/>
                    <a:pt x="12817983" y="10170541"/>
                  </a:cubicBezTo>
                  <a:lnTo>
                    <a:pt x="6350" y="10170541"/>
                  </a:lnTo>
                  <a:cubicBezTo>
                    <a:pt x="2794" y="10170541"/>
                    <a:pt x="0" y="10167748"/>
                    <a:pt x="0" y="10164191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0164191"/>
                  </a:lnTo>
                  <a:lnTo>
                    <a:pt x="6350" y="10164191"/>
                  </a:lnTo>
                  <a:lnTo>
                    <a:pt x="6350" y="10157841"/>
                  </a:lnTo>
                  <a:lnTo>
                    <a:pt x="12817983" y="10157841"/>
                  </a:lnTo>
                  <a:lnTo>
                    <a:pt x="12817983" y="10164191"/>
                  </a:lnTo>
                  <a:lnTo>
                    <a:pt x="12811633" y="10164191"/>
                  </a:lnTo>
                  <a:lnTo>
                    <a:pt x="12811633" y="6350"/>
                  </a:lnTo>
                  <a:lnTo>
                    <a:pt x="12817983" y="6350"/>
                  </a:lnTo>
                  <a:lnTo>
                    <a:pt x="12817983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86333" y="2059010"/>
            <a:ext cx="9608706" cy="617706"/>
            <a:chOff x="0" y="0"/>
            <a:chExt cx="12811608" cy="823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11633" cy="823595"/>
            </a:xfrm>
            <a:custGeom>
              <a:avLst/>
              <a:gdLst/>
              <a:ahLst/>
              <a:cxnLst/>
              <a:rect r="r" b="b" t="t" l="l"/>
              <a:pathLst>
                <a:path h="823595" w="12811633">
                  <a:moveTo>
                    <a:pt x="0" y="0"/>
                  </a:moveTo>
                  <a:lnTo>
                    <a:pt x="12811633" y="0"/>
                  </a:lnTo>
                  <a:lnTo>
                    <a:pt x="12811633" y="823595"/>
                  </a:lnTo>
                  <a:lnTo>
                    <a:pt x="0" y="823595"/>
                  </a:lnTo>
                  <a:close/>
                </a:path>
              </a:pathLst>
            </a:custGeom>
            <a:solidFill>
              <a:srgbClr val="1A2F4A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633443" y="2054238"/>
            <a:ext cx="7010162" cy="2274446"/>
            <a:chOff x="0" y="0"/>
            <a:chExt cx="9346882" cy="30325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9334119" cy="3019933"/>
            </a:xfrm>
            <a:custGeom>
              <a:avLst/>
              <a:gdLst/>
              <a:ahLst/>
              <a:cxnLst/>
              <a:rect r="r" b="b" t="t" l="l"/>
              <a:pathLst>
                <a:path h="3019933" w="9334119">
                  <a:moveTo>
                    <a:pt x="0" y="0"/>
                  </a:moveTo>
                  <a:lnTo>
                    <a:pt x="9334119" y="0"/>
                  </a:lnTo>
                  <a:lnTo>
                    <a:pt x="9334119" y="3019933"/>
                  </a:lnTo>
                  <a:lnTo>
                    <a:pt x="0" y="30199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46819" cy="3032633"/>
            </a:xfrm>
            <a:custGeom>
              <a:avLst/>
              <a:gdLst/>
              <a:ahLst/>
              <a:cxnLst/>
              <a:rect r="r" b="b" t="t" l="l"/>
              <a:pathLst>
                <a:path h="3032633" w="9346819">
                  <a:moveTo>
                    <a:pt x="6350" y="0"/>
                  </a:moveTo>
                  <a:lnTo>
                    <a:pt x="9340469" y="0"/>
                  </a:lnTo>
                  <a:cubicBezTo>
                    <a:pt x="9344025" y="0"/>
                    <a:pt x="9346819" y="2794"/>
                    <a:pt x="9346819" y="6350"/>
                  </a:cubicBezTo>
                  <a:lnTo>
                    <a:pt x="9346819" y="3026283"/>
                  </a:lnTo>
                  <a:cubicBezTo>
                    <a:pt x="9346819" y="3029839"/>
                    <a:pt x="9344025" y="3032633"/>
                    <a:pt x="9340469" y="3032633"/>
                  </a:cubicBezTo>
                  <a:lnTo>
                    <a:pt x="6350" y="3032633"/>
                  </a:lnTo>
                  <a:cubicBezTo>
                    <a:pt x="2794" y="3032633"/>
                    <a:pt x="0" y="3029839"/>
                    <a:pt x="0" y="3026283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3026283"/>
                  </a:lnTo>
                  <a:lnTo>
                    <a:pt x="6350" y="3026283"/>
                  </a:lnTo>
                  <a:lnTo>
                    <a:pt x="6350" y="3019933"/>
                  </a:lnTo>
                  <a:lnTo>
                    <a:pt x="9340469" y="3019933"/>
                  </a:lnTo>
                  <a:lnTo>
                    <a:pt x="9340469" y="3026283"/>
                  </a:lnTo>
                  <a:lnTo>
                    <a:pt x="9334119" y="3026283"/>
                  </a:lnTo>
                  <a:lnTo>
                    <a:pt x="9334119" y="6350"/>
                  </a:lnTo>
                  <a:lnTo>
                    <a:pt x="9340469" y="6350"/>
                  </a:lnTo>
                  <a:lnTo>
                    <a:pt x="9340469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633443" y="4593688"/>
            <a:ext cx="7010162" cy="2274446"/>
            <a:chOff x="0" y="0"/>
            <a:chExt cx="9346882" cy="303259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9334119" cy="3019933"/>
            </a:xfrm>
            <a:custGeom>
              <a:avLst/>
              <a:gdLst/>
              <a:ahLst/>
              <a:cxnLst/>
              <a:rect r="r" b="b" t="t" l="l"/>
              <a:pathLst>
                <a:path h="3019933" w="9334119">
                  <a:moveTo>
                    <a:pt x="0" y="0"/>
                  </a:moveTo>
                  <a:lnTo>
                    <a:pt x="9334119" y="0"/>
                  </a:lnTo>
                  <a:lnTo>
                    <a:pt x="9334119" y="3019933"/>
                  </a:lnTo>
                  <a:lnTo>
                    <a:pt x="0" y="30199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346819" cy="3032633"/>
            </a:xfrm>
            <a:custGeom>
              <a:avLst/>
              <a:gdLst/>
              <a:ahLst/>
              <a:cxnLst/>
              <a:rect r="r" b="b" t="t" l="l"/>
              <a:pathLst>
                <a:path h="3032633" w="9346819">
                  <a:moveTo>
                    <a:pt x="6350" y="0"/>
                  </a:moveTo>
                  <a:lnTo>
                    <a:pt x="9340469" y="0"/>
                  </a:lnTo>
                  <a:cubicBezTo>
                    <a:pt x="9344025" y="0"/>
                    <a:pt x="9346819" y="2794"/>
                    <a:pt x="9346819" y="6350"/>
                  </a:cubicBezTo>
                  <a:lnTo>
                    <a:pt x="9346819" y="3026283"/>
                  </a:lnTo>
                  <a:cubicBezTo>
                    <a:pt x="9346819" y="3029839"/>
                    <a:pt x="9344025" y="3032633"/>
                    <a:pt x="9340469" y="3032633"/>
                  </a:cubicBezTo>
                  <a:lnTo>
                    <a:pt x="6350" y="3032633"/>
                  </a:lnTo>
                  <a:cubicBezTo>
                    <a:pt x="2794" y="3032633"/>
                    <a:pt x="0" y="3029839"/>
                    <a:pt x="0" y="3026283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3026283"/>
                  </a:lnTo>
                  <a:lnTo>
                    <a:pt x="6350" y="3026283"/>
                  </a:lnTo>
                  <a:lnTo>
                    <a:pt x="6350" y="3019933"/>
                  </a:lnTo>
                  <a:lnTo>
                    <a:pt x="9340469" y="3019933"/>
                  </a:lnTo>
                  <a:lnTo>
                    <a:pt x="9340469" y="3026283"/>
                  </a:lnTo>
                  <a:lnTo>
                    <a:pt x="9334119" y="3026283"/>
                  </a:lnTo>
                  <a:lnTo>
                    <a:pt x="9334119" y="6350"/>
                  </a:lnTo>
                  <a:lnTo>
                    <a:pt x="9340469" y="6350"/>
                  </a:lnTo>
                  <a:lnTo>
                    <a:pt x="9340469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633443" y="7133130"/>
            <a:ext cx="7010162" cy="2274446"/>
            <a:chOff x="0" y="0"/>
            <a:chExt cx="9346882" cy="303259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9334119" cy="3019933"/>
            </a:xfrm>
            <a:custGeom>
              <a:avLst/>
              <a:gdLst/>
              <a:ahLst/>
              <a:cxnLst/>
              <a:rect r="r" b="b" t="t" l="l"/>
              <a:pathLst>
                <a:path h="3019933" w="9334119">
                  <a:moveTo>
                    <a:pt x="0" y="0"/>
                  </a:moveTo>
                  <a:lnTo>
                    <a:pt x="9334119" y="0"/>
                  </a:lnTo>
                  <a:lnTo>
                    <a:pt x="9334119" y="3019933"/>
                  </a:lnTo>
                  <a:lnTo>
                    <a:pt x="0" y="30199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346819" cy="3032633"/>
            </a:xfrm>
            <a:custGeom>
              <a:avLst/>
              <a:gdLst/>
              <a:ahLst/>
              <a:cxnLst/>
              <a:rect r="r" b="b" t="t" l="l"/>
              <a:pathLst>
                <a:path h="3032633" w="9346819">
                  <a:moveTo>
                    <a:pt x="6350" y="0"/>
                  </a:moveTo>
                  <a:lnTo>
                    <a:pt x="9340469" y="0"/>
                  </a:lnTo>
                  <a:cubicBezTo>
                    <a:pt x="9344025" y="0"/>
                    <a:pt x="9346819" y="2794"/>
                    <a:pt x="9346819" y="6350"/>
                  </a:cubicBezTo>
                  <a:lnTo>
                    <a:pt x="9346819" y="3026283"/>
                  </a:lnTo>
                  <a:cubicBezTo>
                    <a:pt x="9346819" y="3029839"/>
                    <a:pt x="9344025" y="3032633"/>
                    <a:pt x="9340469" y="3032633"/>
                  </a:cubicBezTo>
                  <a:lnTo>
                    <a:pt x="6350" y="3032633"/>
                  </a:lnTo>
                  <a:cubicBezTo>
                    <a:pt x="2794" y="3032633"/>
                    <a:pt x="0" y="3029839"/>
                    <a:pt x="0" y="3026283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3026283"/>
                  </a:lnTo>
                  <a:lnTo>
                    <a:pt x="6350" y="3026283"/>
                  </a:lnTo>
                  <a:lnTo>
                    <a:pt x="6350" y="3019933"/>
                  </a:lnTo>
                  <a:lnTo>
                    <a:pt x="9340469" y="3019933"/>
                  </a:lnTo>
                  <a:lnTo>
                    <a:pt x="9340469" y="3026283"/>
                  </a:lnTo>
                  <a:lnTo>
                    <a:pt x="9334119" y="3026283"/>
                  </a:lnTo>
                  <a:lnTo>
                    <a:pt x="9334119" y="6350"/>
                  </a:lnTo>
                  <a:lnTo>
                    <a:pt x="9340469" y="6350"/>
                  </a:lnTo>
                  <a:lnTo>
                    <a:pt x="9340469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83675" y="919744"/>
            <a:ext cx="13543845" cy="915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1B2A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GitHub Repository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2499" y="2148992"/>
            <a:ext cx="9151296" cy="41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  ChatAFLndss / ChatAFL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50763" y="2862777"/>
            <a:ext cx="4209669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Main fuzzer source (THE important one)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50763" y="3391262"/>
            <a:ext cx="4209669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B7A8D"/>
                </a:solidFill>
                <a:latin typeface="Calibri (MS)"/>
                <a:ea typeface="Calibri (MS)"/>
                <a:cs typeface="Calibri (MS)"/>
                <a:sym typeface="Calibri (MS)"/>
              </a:rPr>
              <a:t>Core fuzzing logic &amp; LLM call triggers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50763" y="3919738"/>
            <a:ext cx="4209669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All API calls to OpenAI / Groq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650763" y="4448213"/>
            <a:ext cx="4209669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Model names, URLs, thresholds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650763" y="4976698"/>
            <a:ext cx="4209669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Ablation: grammar only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650763" y="5505174"/>
            <a:ext cx="4209669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Ablation: grammar + seed enrichment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650763" y="6033649"/>
            <a:ext cx="4209669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B7A8D"/>
                </a:solidFill>
                <a:latin typeface="Calibri (MS)"/>
                <a:ea typeface="Calibri (MS)"/>
                <a:cs typeface="Calibri (MS)"/>
                <a:sym typeface="Calibri (MS)"/>
              </a:rPr>
              <a:t>Modified baseline fuzzer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650763" y="6562134"/>
            <a:ext cx="4209669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Docker setups for all target servers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650763" y="7090610"/>
            <a:ext cx="4209669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B7A8D"/>
                </a:solidFill>
                <a:latin typeface="Calibri (MS)"/>
                <a:ea typeface="Calibri (MS)"/>
                <a:cs typeface="Calibri (MS)"/>
                <a:sym typeface="Calibri (MS)"/>
              </a:rPr>
              <a:t>Builds all Docker images (~40 min)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650763" y="7619086"/>
            <a:ext cx="4209669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B7A8D"/>
                </a:solidFill>
                <a:latin typeface="Calibri (MS)"/>
                <a:ea typeface="Calibri (MS)"/>
                <a:cs typeface="Calibri (MS)"/>
                <a:sym typeface="Calibri (MS)"/>
              </a:rPr>
              <a:t>Runs fuzzing experiments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650763" y="8147571"/>
            <a:ext cx="4209669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B7A8D"/>
                </a:solidFill>
                <a:latin typeface="Calibri (MS)"/>
                <a:ea typeface="Calibri (MS)"/>
                <a:cs typeface="Calibri (MS)"/>
                <a:sym typeface="Calibri (MS)"/>
              </a:rPr>
              <a:t>Generates coverage graphs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650763" y="8676046"/>
            <a:ext cx="4209669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B7A8D"/>
                </a:solidFill>
                <a:latin typeface="Calibri (MS)"/>
                <a:ea typeface="Calibri (MS)"/>
                <a:cs typeface="Calibri (MS)"/>
                <a:sym typeface="Calibri (MS)"/>
              </a:rPr>
              <a:t>Installs Docker, Python, libs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935548" y="2272532"/>
            <a:ext cx="6405944" cy="468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FF6B35"/>
                </a:solidFill>
                <a:latin typeface="Consolas Bold"/>
                <a:ea typeface="Consolas Bold"/>
                <a:cs typeface="Consolas Bold"/>
                <a:sym typeface="Consolas Bold"/>
              </a:rPr>
              <a:t>chat-llm.c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935548" y="2831125"/>
            <a:ext cx="6405944" cy="130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Most important file for our changes.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Handles all LLM API HTTP calls using libcurl.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We changed the URL and JSON format here.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935548" y="4811973"/>
            <a:ext cx="6405944" cy="468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4361EE"/>
                </a:solidFill>
                <a:latin typeface="Consolas Bold"/>
                <a:ea typeface="Consolas Bold"/>
                <a:cs typeface="Consolas Bold"/>
                <a:sym typeface="Consolas Bold"/>
              </a:rPr>
              <a:t>chat-llm.h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935548" y="5370566"/>
            <a:ext cx="6405944" cy="130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Defines model names and API endpoints.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We changed model → llama-3.3-70b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and URL → api.groq.com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935548" y="7351414"/>
            <a:ext cx="6405944" cy="468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00C9A7"/>
                </a:solidFill>
                <a:latin typeface="Consolas Bold"/>
                <a:ea typeface="Consolas Bold"/>
                <a:cs typeface="Consolas Bold"/>
                <a:sym typeface="Consolas Bold"/>
              </a:rPr>
              <a:t>benchmark/subjects/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935548" y="7910008"/>
            <a:ext cx="6405944" cy="130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Docker config for each target server: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pure-ftpd, live555, kamailio, proftpd,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exim, lighttpd — all compiled with AFL.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7249842" y="9763115"/>
            <a:ext cx="915257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4A5A6A"/>
                </a:solidFill>
                <a:latin typeface="Calibri (MS)"/>
                <a:ea typeface="Calibri (MS)"/>
                <a:cs typeface="Calibri (MS)"/>
                <a:sym typeface="Calibri (MS)"/>
              </a:rPr>
              <a:t>8 / 17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78123" y="3163786"/>
            <a:ext cx="4445241" cy="5724268"/>
            <a:chOff x="0" y="0"/>
            <a:chExt cx="5926988" cy="763235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2935" y="4765"/>
              <a:ext cx="5921125" cy="7622864"/>
            </a:xfrm>
            <a:custGeom>
              <a:avLst/>
              <a:gdLst/>
              <a:ahLst/>
              <a:cxnLst/>
              <a:rect r="r" b="b" t="t" l="l"/>
              <a:pathLst>
                <a:path h="7622864" w="5921125">
                  <a:moveTo>
                    <a:pt x="0" y="0"/>
                  </a:moveTo>
                  <a:lnTo>
                    <a:pt x="5921124" y="0"/>
                  </a:lnTo>
                  <a:lnTo>
                    <a:pt x="5921124" y="7622865"/>
                  </a:lnTo>
                  <a:lnTo>
                    <a:pt x="0" y="7622865"/>
                  </a:lnTo>
                  <a:close/>
                </a:path>
              </a:pathLst>
            </a:custGeom>
            <a:blipFill>
              <a:blip r:embed="rId2"/>
              <a:stretch>
                <a:fillRect l="-1508" t="-62" r="-1492" b="-62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927001" cy="7632408"/>
            </a:xfrm>
            <a:custGeom>
              <a:avLst/>
              <a:gdLst/>
              <a:ahLst/>
              <a:cxnLst/>
              <a:rect r="r" b="b" t="t" l="l"/>
              <a:pathLst>
                <a:path h="7632408" w="5927001">
                  <a:moveTo>
                    <a:pt x="2935" y="0"/>
                  </a:moveTo>
                  <a:lnTo>
                    <a:pt x="5924059" y="0"/>
                  </a:lnTo>
                  <a:cubicBezTo>
                    <a:pt x="5925703" y="0"/>
                    <a:pt x="5927001" y="2097"/>
                    <a:pt x="5927001" y="4765"/>
                  </a:cubicBezTo>
                  <a:lnTo>
                    <a:pt x="5927001" y="7627630"/>
                  </a:lnTo>
                  <a:cubicBezTo>
                    <a:pt x="5927001" y="7630299"/>
                    <a:pt x="5925703" y="7632408"/>
                    <a:pt x="5924059" y="7632408"/>
                  </a:cubicBezTo>
                  <a:lnTo>
                    <a:pt x="2935" y="7632408"/>
                  </a:lnTo>
                  <a:cubicBezTo>
                    <a:pt x="1291" y="7632408"/>
                    <a:pt x="0" y="7630299"/>
                    <a:pt x="0" y="7627630"/>
                  </a:cubicBezTo>
                  <a:lnTo>
                    <a:pt x="0" y="4765"/>
                  </a:lnTo>
                  <a:cubicBezTo>
                    <a:pt x="0" y="2097"/>
                    <a:pt x="1291" y="0"/>
                    <a:pt x="2935" y="0"/>
                  </a:cubicBezTo>
                  <a:moveTo>
                    <a:pt x="2935" y="9531"/>
                  </a:moveTo>
                  <a:lnTo>
                    <a:pt x="2935" y="4765"/>
                  </a:lnTo>
                  <a:lnTo>
                    <a:pt x="5870" y="4765"/>
                  </a:lnTo>
                  <a:lnTo>
                    <a:pt x="5870" y="7627630"/>
                  </a:lnTo>
                  <a:lnTo>
                    <a:pt x="2935" y="7627630"/>
                  </a:lnTo>
                  <a:lnTo>
                    <a:pt x="2935" y="7622865"/>
                  </a:lnTo>
                  <a:lnTo>
                    <a:pt x="5924059" y="7622865"/>
                  </a:lnTo>
                  <a:lnTo>
                    <a:pt x="5924059" y="7627630"/>
                  </a:lnTo>
                  <a:lnTo>
                    <a:pt x="5921125" y="7627630"/>
                  </a:lnTo>
                  <a:lnTo>
                    <a:pt x="5921125" y="4765"/>
                  </a:lnTo>
                  <a:lnTo>
                    <a:pt x="5924059" y="4765"/>
                  </a:lnTo>
                  <a:lnTo>
                    <a:pt x="5924059" y="9531"/>
                  </a:lnTo>
                  <a:lnTo>
                    <a:pt x="2935" y="9531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919744"/>
            <a:ext cx="13543845" cy="915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1B2A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Experimental Setup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81571" y="2054238"/>
            <a:ext cx="5431593" cy="3029407"/>
            <a:chOff x="0" y="0"/>
            <a:chExt cx="7242124" cy="40392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" y="6350"/>
              <a:ext cx="7229475" cy="4026535"/>
            </a:xfrm>
            <a:custGeom>
              <a:avLst/>
              <a:gdLst/>
              <a:ahLst/>
              <a:cxnLst/>
              <a:rect r="r" b="b" t="t" l="l"/>
              <a:pathLst>
                <a:path h="4026535" w="7229475">
                  <a:moveTo>
                    <a:pt x="0" y="0"/>
                  </a:moveTo>
                  <a:lnTo>
                    <a:pt x="7229475" y="0"/>
                  </a:lnTo>
                  <a:lnTo>
                    <a:pt x="7229475" y="4026535"/>
                  </a:lnTo>
                  <a:lnTo>
                    <a:pt x="0" y="40265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42175" cy="4039235"/>
            </a:xfrm>
            <a:custGeom>
              <a:avLst/>
              <a:gdLst/>
              <a:ahLst/>
              <a:cxnLst/>
              <a:rect r="r" b="b" t="t" l="l"/>
              <a:pathLst>
                <a:path h="4039235" w="7242175">
                  <a:moveTo>
                    <a:pt x="6350" y="0"/>
                  </a:moveTo>
                  <a:lnTo>
                    <a:pt x="7235825" y="0"/>
                  </a:lnTo>
                  <a:cubicBezTo>
                    <a:pt x="7239381" y="0"/>
                    <a:pt x="7242175" y="2794"/>
                    <a:pt x="7242175" y="6350"/>
                  </a:cubicBezTo>
                  <a:lnTo>
                    <a:pt x="7242175" y="4032885"/>
                  </a:lnTo>
                  <a:cubicBezTo>
                    <a:pt x="7242175" y="4036441"/>
                    <a:pt x="7239381" y="4039235"/>
                    <a:pt x="7235825" y="4039235"/>
                  </a:cubicBezTo>
                  <a:lnTo>
                    <a:pt x="6350" y="4039235"/>
                  </a:lnTo>
                  <a:cubicBezTo>
                    <a:pt x="2794" y="4039235"/>
                    <a:pt x="0" y="4036441"/>
                    <a:pt x="0" y="4032885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032885"/>
                  </a:lnTo>
                  <a:lnTo>
                    <a:pt x="6350" y="4032885"/>
                  </a:lnTo>
                  <a:lnTo>
                    <a:pt x="6350" y="4026535"/>
                  </a:lnTo>
                  <a:lnTo>
                    <a:pt x="7235825" y="4026535"/>
                  </a:lnTo>
                  <a:lnTo>
                    <a:pt x="7235825" y="4032885"/>
                  </a:lnTo>
                  <a:lnTo>
                    <a:pt x="7229475" y="4032885"/>
                  </a:lnTo>
                  <a:lnTo>
                    <a:pt x="7229475" y="6350"/>
                  </a:lnTo>
                  <a:lnTo>
                    <a:pt x="7235825" y="6350"/>
                  </a:lnTo>
                  <a:lnTo>
                    <a:pt x="7235825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52312" y="2263007"/>
            <a:ext cx="462147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b="true" sz="2301">
                <a:solidFill>
                  <a:srgbClr val="4361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Infrastructure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2312" y="3027502"/>
            <a:ext cx="469011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Docker containers</a:t>
            </a:r>
          </a:p>
          <a:p>
            <a:pPr algn="l">
              <a:lnSpc>
                <a:spcPts val="2401"/>
              </a:lnSpc>
            </a:pPr>
            <a:r>
              <a:rPr lang="en-US" sz="200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Ubuntu Linux</a:t>
            </a:r>
          </a:p>
          <a:p>
            <a:pPr algn="l">
              <a:lnSpc>
                <a:spcPts val="2401"/>
              </a:lnSpc>
            </a:pPr>
            <a:r>
              <a:rPr lang="en-US" sz="200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Isolated per experiment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378159" y="2054238"/>
            <a:ext cx="5431593" cy="3029407"/>
            <a:chOff x="0" y="0"/>
            <a:chExt cx="7242124" cy="40392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7229475" cy="4026535"/>
            </a:xfrm>
            <a:custGeom>
              <a:avLst/>
              <a:gdLst/>
              <a:ahLst/>
              <a:cxnLst/>
              <a:rect r="r" b="b" t="t" l="l"/>
              <a:pathLst>
                <a:path h="4026535" w="7229475">
                  <a:moveTo>
                    <a:pt x="0" y="0"/>
                  </a:moveTo>
                  <a:lnTo>
                    <a:pt x="7229475" y="0"/>
                  </a:lnTo>
                  <a:lnTo>
                    <a:pt x="7229475" y="4026535"/>
                  </a:lnTo>
                  <a:lnTo>
                    <a:pt x="0" y="40265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42175" cy="4039235"/>
            </a:xfrm>
            <a:custGeom>
              <a:avLst/>
              <a:gdLst/>
              <a:ahLst/>
              <a:cxnLst/>
              <a:rect r="r" b="b" t="t" l="l"/>
              <a:pathLst>
                <a:path h="4039235" w="7242175">
                  <a:moveTo>
                    <a:pt x="6350" y="0"/>
                  </a:moveTo>
                  <a:lnTo>
                    <a:pt x="7235825" y="0"/>
                  </a:lnTo>
                  <a:cubicBezTo>
                    <a:pt x="7239381" y="0"/>
                    <a:pt x="7242175" y="2794"/>
                    <a:pt x="7242175" y="6350"/>
                  </a:cubicBezTo>
                  <a:lnTo>
                    <a:pt x="7242175" y="4032885"/>
                  </a:lnTo>
                  <a:cubicBezTo>
                    <a:pt x="7242175" y="4036441"/>
                    <a:pt x="7239381" y="4039235"/>
                    <a:pt x="7235825" y="4039235"/>
                  </a:cubicBezTo>
                  <a:lnTo>
                    <a:pt x="6350" y="4039235"/>
                  </a:lnTo>
                  <a:cubicBezTo>
                    <a:pt x="2794" y="4039235"/>
                    <a:pt x="0" y="4036441"/>
                    <a:pt x="0" y="4032885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032885"/>
                  </a:lnTo>
                  <a:lnTo>
                    <a:pt x="6350" y="4032885"/>
                  </a:lnTo>
                  <a:lnTo>
                    <a:pt x="6350" y="4026535"/>
                  </a:lnTo>
                  <a:lnTo>
                    <a:pt x="7235825" y="4026535"/>
                  </a:lnTo>
                  <a:lnTo>
                    <a:pt x="7235825" y="4032885"/>
                  </a:lnTo>
                  <a:lnTo>
                    <a:pt x="7229475" y="4032885"/>
                  </a:lnTo>
                  <a:lnTo>
                    <a:pt x="7229475" y="6350"/>
                  </a:lnTo>
                  <a:lnTo>
                    <a:pt x="7235825" y="6350"/>
                  </a:lnTo>
                  <a:lnTo>
                    <a:pt x="7235825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748901" y="2263007"/>
            <a:ext cx="462147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sz="2301" b="true">
                <a:solidFill>
                  <a:srgbClr val="4361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Duration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48901" y="3027502"/>
            <a:ext cx="469011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240 minutes (4 hours)</a:t>
            </a:r>
          </a:p>
          <a:p>
            <a:pPr algn="l">
              <a:lnSpc>
                <a:spcPts val="2401"/>
              </a:lnSpc>
            </a:pPr>
            <a:r>
              <a:rPr lang="en-US" sz="200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5 runs per fuzzer</a:t>
            </a:r>
          </a:p>
          <a:p>
            <a:pPr algn="l">
              <a:lnSpc>
                <a:spcPts val="2401"/>
              </a:lnSpc>
            </a:pPr>
            <a:r>
              <a:rPr lang="en-US" sz="200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Results averaged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74747" y="2054238"/>
            <a:ext cx="5431593" cy="3029407"/>
            <a:chOff x="0" y="0"/>
            <a:chExt cx="7242124" cy="40392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7229475" cy="4026535"/>
            </a:xfrm>
            <a:custGeom>
              <a:avLst/>
              <a:gdLst/>
              <a:ahLst/>
              <a:cxnLst/>
              <a:rect r="r" b="b" t="t" l="l"/>
              <a:pathLst>
                <a:path h="4026535" w="7229475">
                  <a:moveTo>
                    <a:pt x="0" y="0"/>
                  </a:moveTo>
                  <a:lnTo>
                    <a:pt x="7229475" y="0"/>
                  </a:lnTo>
                  <a:lnTo>
                    <a:pt x="7229475" y="4026535"/>
                  </a:lnTo>
                  <a:lnTo>
                    <a:pt x="0" y="40265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242175" cy="4039235"/>
            </a:xfrm>
            <a:custGeom>
              <a:avLst/>
              <a:gdLst/>
              <a:ahLst/>
              <a:cxnLst/>
              <a:rect r="r" b="b" t="t" l="l"/>
              <a:pathLst>
                <a:path h="4039235" w="7242175">
                  <a:moveTo>
                    <a:pt x="6350" y="0"/>
                  </a:moveTo>
                  <a:lnTo>
                    <a:pt x="7235825" y="0"/>
                  </a:lnTo>
                  <a:cubicBezTo>
                    <a:pt x="7239381" y="0"/>
                    <a:pt x="7242175" y="2794"/>
                    <a:pt x="7242175" y="6350"/>
                  </a:cubicBezTo>
                  <a:lnTo>
                    <a:pt x="7242175" y="4032885"/>
                  </a:lnTo>
                  <a:cubicBezTo>
                    <a:pt x="7242175" y="4036441"/>
                    <a:pt x="7239381" y="4039235"/>
                    <a:pt x="7235825" y="4039235"/>
                  </a:cubicBezTo>
                  <a:lnTo>
                    <a:pt x="6350" y="4039235"/>
                  </a:lnTo>
                  <a:cubicBezTo>
                    <a:pt x="2794" y="4039235"/>
                    <a:pt x="0" y="4036441"/>
                    <a:pt x="0" y="4032885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032885"/>
                  </a:lnTo>
                  <a:lnTo>
                    <a:pt x="6350" y="4032885"/>
                  </a:lnTo>
                  <a:lnTo>
                    <a:pt x="6350" y="4026535"/>
                  </a:lnTo>
                  <a:lnTo>
                    <a:pt x="7235825" y="4026535"/>
                  </a:lnTo>
                  <a:lnTo>
                    <a:pt x="7235825" y="4032885"/>
                  </a:lnTo>
                  <a:lnTo>
                    <a:pt x="7229475" y="4032885"/>
                  </a:lnTo>
                  <a:lnTo>
                    <a:pt x="7229475" y="6350"/>
                  </a:lnTo>
                  <a:lnTo>
                    <a:pt x="7235825" y="6350"/>
                  </a:lnTo>
                  <a:lnTo>
                    <a:pt x="7235825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445489" y="2263007"/>
            <a:ext cx="462147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b="true" sz="2301">
                <a:solidFill>
                  <a:srgbClr val="4361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Fuzzers Tested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45489" y="3027502"/>
            <a:ext cx="469011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ChatAFL (full)</a:t>
            </a:r>
          </a:p>
          <a:p>
            <a:pPr algn="l">
              <a:lnSpc>
                <a:spcPts val="2401"/>
              </a:lnSpc>
            </a:pPr>
            <a:r>
              <a:rPr lang="en-US" sz="200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ChatAFL-CL1 (grammar only)</a:t>
            </a:r>
          </a:p>
          <a:p>
            <a:pPr algn="l">
              <a:lnSpc>
                <a:spcPts val="2401"/>
              </a:lnSpc>
            </a:pPr>
            <a:r>
              <a:rPr lang="en-US" sz="200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ChatAFL-CL2 (grammar + seeds)</a:t>
            </a:r>
          </a:p>
          <a:p>
            <a:pPr algn="l">
              <a:lnSpc>
                <a:spcPts val="2401"/>
              </a:lnSpc>
            </a:pPr>
            <a:r>
              <a:rPr lang="en-US" sz="200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AFLNet (baseline)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7773" y="5292404"/>
            <a:ext cx="668048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B2A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Target Protocols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86333" y="5902490"/>
            <a:ext cx="3157147" cy="549069"/>
            <a:chOff x="0" y="0"/>
            <a:chExt cx="4209529" cy="7320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09542" cy="732155"/>
            </a:xfrm>
            <a:custGeom>
              <a:avLst/>
              <a:gdLst/>
              <a:ahLst/>
              <a:cxnLst/>
              <a:rect r="r" b="b" t="t" l="l"/>
              <a:pathLst>
                <a:path h="732155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1B2A3A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15048" y="6001998"/>
            <a:ext cx="2837002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Server Name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3980755" y="5902490"/>
            <a:ext cx="2264912" cy="549069"/>
            <a:chOff x="0" y="0"/>
            <a:chExt cx="3019882" cy="7320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19933" cy="732155"/>
            </a:xfrm>
            <a:custGeom>
              <a:avLst/>
              <a:gdLst/>
              <a:ahLst/>
              <a:cxnLst/>
              <a:rect r="r" b="b" t="t" l="l"/>
              <a:pathLst>
                <a:path h="732155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1B2A3A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4209459" y="6001998"/>
            <a:ext cx="1944757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Protocol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382931" y="5902490"/>
            <a:ext cx="10981382" cy="549069"/>
            <a:chOff x="0" y="0"/>
            <a:chExt cx="14641843" cy="7320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641830" cy="732155"/>
            </a:xfrm>
            <a:custGeom>
              <a:avLst/>
              <a:gdLst/>
              <a:ahLst/>
              <a:cxnLst/>
              <a:rect r="r" b="b" t="t" l="l"/>
              <a:pathLst>
                <a:path h="732155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1B2A3A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6611636" y="6001998"/>
            <a:ext cx="10661228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Description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86333" y="6520196"/>
            <a:ext cx="3157147" cy="576520"/>
            <a:chOff x="0" y="0"/>
            <a:chExt cx="4209529" cy="76869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209542" cy="768731"/>
            </a:xfrm>
            <a:custGeom>
              <a:avLst/>
              <a:gdLst/>
              <a:ahLst/>
              <a:cxnLst/>
              <a:rect r="r" b="b" t="t" l="l"/>
              <a:pathLst>
                <a:path h="768731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15048" y="6647155"/>
            <a:ext cx="2768365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0C9A7"/>
                </a:solidFill>
                <a:latin typeface="Consolas Bold"/>
                <a:ea typeface="Consolas Bold"/>
                <a:cs typeface="Consolas Bold"/>
                <a:sym typeface="Consolas Bold"/>
              </a:rPr>
              <a:t>pure-ftpd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3980755" y="6520196"/>
            <a:ext cx="2264912" cy="576520"/>
            <a:chOff x="0" y="0"/>
            <a:chExt cx="3019882" cy="76869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019933" cy="768731"/>
            </a:xfrm>
            <a:custGeom>
              <a:avLst/>
              <a:gdLst/>
              <a:ahLst/>
              <a:cxnLst/>
              <a:rect r="r" b="b" t="t" l="l"/>
              <a:pathLst>
                <a:path h="768731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4209459" y="6647155"/>
            <a:ext cx="1876130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FTP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382931" y="6520196"/>
            <a:ext cx="10981382" cy="576520"/>
            <a:chOff x="0" y="0"/>
            <a:chExt cx="14641843" cy="76869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641830" cy="768731"/>
            </a:xfrm>
            <a:custGeom>
              <a:avLst/>
              <a:gdLst/>
              <a:ahLst/>
              <a:cxnLst/>
              <a:rect r="r" b="b" t="t" l="l"/>
              <a:pathLst>
                <a:path h="768731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6611636" y="6647155"/>
            <a:ext cx="10592600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File Transfer Protocol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686333" y="7124167"/>
            <a:ext cx="3157147" cy="576520"/>
            <a:chOff x="0" y="0"/>
            <a:chExt cx="4209529" cy="76869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09542" cy="768731"/>
            </a:xfrm>
            <a:custGeom>
              <a:avLst/>
              <a:gdLst/>
              <a:ahLst/>
              <a:cxnLst/>
              <a:rect r="r" b="b" t="t" l="l"/>
              <a:pathLst>
                <a:path h="768731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15048" y="7251125"/>
            <a:ext cx="2768365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0C9A7"/>
                </a:solidFill>
                <a:latin typeface="Consolas Bold"/>
                <a:ea typeface="Consolas Bold"/>
                <a:cs typeface="Consolas Bold"/>
                <a:sym typeface="Consolas Bold"/>
              </a:rPr>
              <a:t>proftpd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3980755" y="7124167"/>
            <a:ext cx="2264912" cy="576520"/>
            <a:chOff x="0" y="0"/>
            <a:chExt cx="3019882" cy="76869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019933" cy="768731"/>
            </a:xfrm>
            <a:custGeom>
              <a:avLst/>
              <a:gdLst/>
              <a:ahLst/>
              <a:cxnLst/>
              <a:rect r="r" b="b" t="t" l="l"/>
              <a:pathLst>
                <a:path h="768731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4209459" y="7251125"/>
            <a:ext cx="1876130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FTP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6382931" y="7124167"/>
            <a:ext cx="10981382" cy="576520"/>
            <a:chOff x="0" y="0"/>
            <a:chExt cx="14641843" cy="76869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4641830" cy="768731"/>
            </a:xfrm>
            <a:custGeom>
              <a:avLst/>
              <a:gdLst/>
              <a:ahLst/>
              <a:cxnLst/>
              <a:rect r="r" b="b" t="t" l="l"/>
              <a:pathLst>
                <a:path h="768731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6611636" y="7251125"/>
            <a:ext cx="10592600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File Transfer Protocol (alternative)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686333" y="7728147"/>
            <a:ext cx="3157147" cy="576520"/>
            <a:chOff x="0" y="0"/>
            <a:chExt cx="4209529" cy="76869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209542" cy="768731"/>
            </a:xfrm>
            <a:custGeom>
              <a:avLst/>
              <a:gdLst/>
              <a:ahLst/>
              <a:cxnLst/>
              <a:rect r="r" b="b" t="t" l="l"/>
              <a:pathLst>
                <a:path h="768731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915048" y="7855106"/>
            <a:ext cx="2768365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0C9A7"/>
                </a:solidFill>
                <a:latin typeface="Consolas Bold"/>
                <a:ea typeface="Consolas Bold"/>
                <a:cs typeface="Consolas Bold"/>
                <a:sym typeface="Consolas Bold"/>
              </a:rPr>
              <a:t>live555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3980755" y="7728147"/>
            <a:ext cx="2264912" cy="576520"/>
            <a:chOff x="0" y="0"/>
            <a:chExt cx="3019882" cy="76869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019933" cy="768731"/>
            </a:xfrm>
            <a:custGeom>
              <a:avLst/>
              <a:gdLst/>
              <a:ahLst/>
              <a:cxnLst/>
              <a:rect r="r" b="b" t="t" l="l"/>
              <a:pathLst>
                <a:path h="768731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4209459" y="7855106"/>
            <a:ext cx="1876130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RTSP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6382931" y="7728147"/>
            <a:ext cx="10981382" cy="576520"/>
            <a:chOff x="0" y="0"/>
            <a:chExt cx="14641843" cy="76869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4641830" cy="768731"/>
            </a:xfrm>
            <a:custGeom>
              <a:avLst/>
              <a:gdLst/>
              <a:ahLst/>
              <a:cxnLst/>
              <a:rect r="r" b="b" t="t" l="l"/>
              <a:pathLst>
                <a:path h="768731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6611636" y="7855106"/>
            <a:ext cx="10592600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Streaming Protocol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686333" y="8332118"/>
            <a:ext cx="3157147" cy="576520"/>
            <a:chOff x="0" y="0"/>
            <a:chExt cx="4209529" cy="76869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209542" cy="768731"/>
            </a:xfrm>
            <a:custGeom>
              <a:avLst/>
              <a:gdLst/>
              <a:ahLst/>
              <a:cxnLst/>
              <a:rect r="r" b="b" t="t" l="l"/>
              <a:pathLst>
                <a:path h="768731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915048" y="8459076"/>
            <a:ext cx="2768365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0C9A7"/>
                </a:solidFill>
                <a:latin typeface="Consolas Bold"/>
                <a:ea typeface="Consolas Bold"/>
                <a:cs typeface="Consolas Bold"/>
                <a:sym typeface="Consolas Bold"/>
              </a:rPr>
              <a:t>kamailio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3980755" y="8332118"/>
            <a:ext cx="2264912" cy="576520"/>
            <a:chOff x="0" y="0"/>
            <a:chExt cx="3019882" cy="76869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019933" cy="768731"/>
            </a:xfrm>
            <a:custGeom>
              <a:avLst/>
              <a:gdLst/>
              <a:ahLst/>
              <a:cxnLst/>
              <a:rect r="r" b="b" t="t" l="l"/>
              <a:pathLst>
                <a:path h="768731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4209459" y="8459076"/>
            <a:ext cx="1876130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SIP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6382931" y="8332118"/>
            <a:ext cx="10981382" cy="576520"/>
            <a:chOff x="0" y="0"/>
            <a:chExt cx="14641843" cy="76869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4641830" cy="768731"/>
            </a:xfrm>
            <a:custGeom>
              <a:avLst/>
              <a:gdLst/>
              <a:ahLst/>
              <a:cxnLst/>
              <a:rect r="r" b="b" t="t" l="l"/>
              <a:pathLst>
                <a:path h="768731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6611636" y="8459076"/>
            <a:ext cx="10592600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Session Initiation Protocol (VoIP)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686333" y="8936098"/>
            <a:ext cx="3157147" cy="576520"/>
            <a:chOff x="0" y="0"/>
            <a:chExt cx="4209529" cy="76869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209542" cy="768731"/>
            </a:xfrm>
            <a:custGeom>
              <a:avLst/>
              <a:gdLst/>
              <a:ahLst/>
              <a:cxnLst/>
              <a:rect r="r" b="b" t="t" l="l"/>
              <a:pathLst>
                <a:path h="768731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8" id="68"/>
          <p:cNvSpPr txBox="true"/>
          <p:nvPr/>
        </p:nvSpPr>
        <p:spPr>
          <a:xfrm rot="0">
            <a:off x="915048" y="9063057"/>
            <a:ext cx="2768365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0C9A7"/>
                </a:solidFill>
                <a:latin typeface="Consolas Bold"/>
                <a:ea typeface="Consolas Bold"/>
                <a:cs typeface="Consolas Bold"/>
                <a:sym typeface="Consolas Bold"/>
              </a:rPr>
              <a:t>exim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3980755" y="8936098"/>
            <a:ext cx="2264912" cy="576520"/>
            <a:chOff x="0" y="0"/>
            <a:chExt cx="3019882" cy="76869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019933" cy="768731"/>
            </a:xfrm>
            <a:custGeom>
              <a:avLst/>
              <a:gdLst/>
              <a:ahLst/>
              <a:cxnLst/>
              <a:rect r="r" b="b" t="t" l="l"/>
              <a:pathLst>
                <a:path h="768731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1" id="71"/>
          <p:cNvSpPr txBox="true"/>
          <p:nvPr/>
        </p:nvSpPr>
        <p:spPr>
          <a:xfrm rot="0">
            <a:off x="4209459" y="9063057"/>
            <a:ext cx="1876130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SMTP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6382931" y="8936098"/>
            <a:ext cx="10981382" cy="576520"/>
            <a:chOff x="0" y="0"/>
            <a:chExt cx="14641843" cy="76869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4641830" cy="768731"/>
            </a:xfrm>
            <a:custGeom>
              <a:avLst/>
              <a:gdLst/>
              <a:ahLst/>
              <a:cxnLst/>
              <a:rect r="r" b="b" t="t" l="l"/>
              <a:pathLst>
                <a:path h="768731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6611636" y="9063057"/>
            <a:ext cx="10592600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Email Transfer Protocol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686333" y="9540069"/>
            <a:ext cx="3157147" cy="576520"/>
            <a:chOff x="0" y="0"/>
            <a:chExt cx="4209529" cy="768693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209542" cy="768731"/>
            </a:xfrm>
            <a:custGeom>
              <a:avLst/>
              <a:gdLst/>
              <a:ahLst/>
              <a:cxnLst/>
              <a:rect r="r" b="b" t="t" l="l"/>
              <a:pathLst>
                <a:path h="768731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915048" y="9667027"/>
            <a:ext cx="2768365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0C9A7"/>
                </a:solidFill>
                <a:latin typeface="Consolas Bold"/>
                <a:ea typeface="Consolas Bold"/>
                <a:cs typeface="Consolas Bold"/>
                <a:sym typeface="Consolas Bold"/>
              </a:rPr>
              <a:t>lighttpd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3980755" y="9540069"/>
            <a:ext cx="2264912" cy="576520"/>
            <a:chOff x="0" y="0"/>
            <a:chExt cx="3019882" cy="76869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019933" cy="768731"/>
            </a:xfrm>
            <a:custGeom>
              <a:avLst/>
              <a:gdLst/>
              <a:ahLst/>
              <a:cxnLst/>
              <a:rect r="r" b="b" t="t" l="l"/>
              <a:pathLst>
                <a:path h="768731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name="TextBox 80" id="80"/>
          <p:cNvSpPr txBox="true"/>
          <p:nvPr/>
        </p:nvSpPr>
        <p:spPr>
          <a:xfrm rot="0">
            <a:off x="4209459" y="9667027"/>
            <a:ext cx="1876130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HTTP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6382931" y="9540069"/>
            <a:ext cx="10981382" cy="576520"/>
            <a:chOff x="0" y="0"/>
            <a:chExt cx="14641843" cy="768693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4641830" cy="768731"/>
            </a:xfrm>
            <a:custGeom>
              <a:avLst/>
              <a:gdLst/>
              <a:ahLst/>
              <a:cxnLst/>
              <a:rect r="r" b="b" t="t" l="l"/>
              <a:pathLst>
                <a:path h="768731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name="TextBox 83" id="83"/>
          <p:cNvSpPr txBox="true"/>
          <p:nvPr/>
        </p:nvSpPr>
        <p:spPr>
          <a:xfrm rot="0">
            <a:off x="6611636" y="9667027"/>
            <a:ext cx="10592600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Hypertext Transfer Protocol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7249842" y="9763115"/>
            <a:ext cx="915257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4A5A6A"/>
                </a:solidFill>
                <a:latin typeface="Calibri (MS)"/>
                <a:ea typeface="Calibri (MS)"/>
                <a:cs typeface="Calibri (MS)"/>
                <a:sym typeface="Calibri (MS)"/>
              </a:rPr>
              <a:t>11 / 17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72036" y="2868311"/>
            <a:ext cx="5519290" cy="4832947"/>
            <a:chOff x="0" y="0"/>
            <a:chExt cx="7359053" cy="6443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19050"/>
              <a:ext cx="7320915" cy="6405880"/>
            </a:xfrm>
            <a:custGeom>
              <a:avLst/>
              <a:gdLst/>
              <a:ahLst/>
              <a:cxnLst/>
              <a:rect r="r" b="b" t="t" l="l"/>
              <a:pathLst>
                <a:path h="6405880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6405880"/>
                  </a:lnTo>
                  <a:lnTo>
                    <a:pt x="0" y="6405880"/>
                  </a:lnTo>
                  <a:close/>
                </a:path>
              </a:pathLst>
            </a:custGeom>
            <a:blipFill>
              <a:blip r:embed="rId2"/>
              <a:stretch>
                <a:fillRect l="-3733" t="0" r="-3733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59015" cy="6443980"/>
            </a:xfrm>
            <a:custGeom>
              <a:avLst/>
              <a:gdLst/>
              <a:ahLst/>
              <a:cxnLst/>
              <a:rect r="r" b="b" t="t" l="l"/>
              <a:pathLst>
                <a:path h="6443980" w="7359015">
                  <a:moveTo>
                    <a:pt x="19050" y="0"/>
                  </a:moveTo>
                  <a:lnTo>
                    <a:pt x="7339965" y="0"/>
                  </a:lnTo>
                  <a:cubicBezTo>
                    <a:pt x="7350506" y="0"/>
                    <a:pt x="7359015" y="8509"/>
                    <a:pt x="7359015" y="19050"/>
                  </a:cubicBezTo>
                  <a:lnTo>
                    <a:pt x="7359015" y="6424930"/>
                  </a:lnTo>
                  <a:cubicBezTo>
                    <a:pt x="7359015" y="6435471"/>
                    <a:pt x="7350506" y="6443980"/>
                    <a:pt x="7339965" y="6443980"/>
                  </a:cubicBezTo>
                  <a:lnTo>
                    <a:pt x="19050" y="6443980"/>
                  </a:lnTo>
                  <a:cubicBezTo>
                    <a:pt x="8509" y="6443980"/>
                    <a:pt x="0" y="6435471"/>
                    <a:pt x="0" y="6424930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6424930"/>
                  </a:lnTo>
                  <a:lnTo>
                    <a:pt x="19050" y="6424930"/>
                  </a:lnTo>
                  <a:lnTo>
                    <a:pt x="19050" y="6405880"/>
                  </a:lnTo>
                  <a:lnTo>
                    <a:pt x="7339965" y="6405880"/>
                  </a:lnTo>
                  <a:lnTo>
                    <a:pt x="7339965" y="6424930"/>
                  </a:lnTo>
                  <a:lnTo>
                    <a:pt x="7320915" y="6424930"/>
                  </a:lnTo>
                  <a:lnTo>
                    <a:pt x="7320915" y="19050"/>
                  </a:lnTo>
                  <a:lnTo>
                    <a:pt x="7339965" y="19050"/>
                  </a:lnTo>
                  <a:lnTo>
                    <a:pt x="7339965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505899" y="2868311"/>
            <a:ext cx="5519290" cy="4832947"/>
            <a:chOff x="0" y="0"/>
            <a:chExt cx="7359053" cy="64439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050" y="19050"/>
              <a:ext cx="7320915" cy="6405880"/>
            </a:xfrm>
            <a:custGeom>
              <a:avLst/>
              <a:gdLst/>
              <a:ahLst/>
              <a:cxnLst/>
              <a:rect r="r" b="b" t="t" l="l"/>
              <a:pathLst>
                <a:path h="6405880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6405880"/>
                  </a:lnTo>
                  <a:lnTo>
                    <a:pt x="0" y="6405880"/>
                  </a:lnTo>
                  <a:close/>
                </a:path>
              </a:pathLst>
            </a:custGeom>
            <a:blipFill>
              <a:blip r:embed="rId3"/>
              <a:stretch>
                <a:fillRect l="-4246" t="0" r="-4246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59015" cy="6443980"/>
            </a:xfrm>
            <a:custGeom>
              <a:avLst/>
              <a:gdLst/>
              <a:ahLst/>
              <a:cxnLst/>
              <a:rect r="r" b="b" t="t" l="l"/>
              <a:pathLst>
                <a:path h="6443980" w="7359015">
                  <a:moveTo>
                    <a:pt x="19050" y="0"/>
                  </a:moveTo>
                  <a:lnTo>
                    <a:pt x="7339965" y="0"/>
                  </a:lnTo>
                  <a:cubicBezTo>
                    <a:pt x="7350506" y="0"/>
                    <a:pt x="7359015" y="8509"/>
                    <a:pt x="7359015" y="19050"/>
                  </a:cubicBezTo>
                  <a:lnTo>
                    <a:pt x="7359015" y="6424930"/>
                  </a:lnTo>
                  <a:cubicBezTo>
                    <a:pt x="7359015" y="6435471"/>
                    <a:pt x="7350506" y="6443980"/>
                    <a:pt x="7339965" y="6443980"/>
                  </a:cubicBezTo>
                  <a:lnTo>
                    <a:pt x="19050" y="6443980"/>
                  </a:lnTo>
                  <a:cubicBezTo>
                    <a:pt x="8509" y="6443980"/>
                    <a:pt x="0" y="6435471"/>
                    <a:pt x="0" y="6424930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6424930"/>
                  </a:lnTo>
                  <a:lnTo>
                    <a:pt x="19050" y="6424930"/>
                  </a:lnTo>
                  <a:lnTo>
                    <a:pt x="19050" y="6405880"/>
                  </a:lnTo>
                  <a:lnTo>
                    <a:pt x="7339965" y="6405880"/>
                  </a:lnTo>
                  <a:lnTo>
                    <a:pt x="7339965" y="6424930"/>
                  </a:lnTo>
                  <a:lnTo>
                    <a:pt x="7320915" y="6424930"/>
                  </a:lnTo>
                  <a:lnTo>
                    <a:pt x="7320915" y="19050"/>
                  </a:lnTo>
                  <a:lnTo>
                    <a:pt x="7339965" y="19050"/>
                  </a:lnTo>
                  <a:lnTo>
                    <a:pt x="7339965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39752" y="2868311"/>
            <a:ext cx="5519290" cy="4832947"/>
            <a:chOff x="0" y="0"/>
            <a:chExt cx="7359053" cy="6443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9050" y="19050"/>
              <a:ext cx="7320915" cy="6405880"/>
            </a:xfrm>
            <a:custGeom>
              <a:avLst/>
              <a:gdLst/>
              <a:ahLst/>
              <a:cxnLst/>
              <a:rect r="r" b="b" t="t" l="l"/>
              <a:pathLst>
                <a:path h="6405880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6405880"/>
                  </a:lnTo>
                  <a:lnTo>
                    <a:pt x="0" y="6405880"/>
                  </a:lnTo>
                  <a:close/>
                </a:path>
              </a:pathLst>
            </a:custGeom>
            <a:blipFill>
              <a:blip r:embed="rId4"/>
              <a:stretch>
                <a:fillRect l="-3733" t="0" r="-3733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59015" cy="6443980"/>
            </a:xfrm>
            <a:custGeom>
              <a:avLst/>
              <a:gdLst/>
              <a:ahLst/>
              <a:cxnLst/>
              <a:rect r="r" b="b" t="t" l="l"/>
              <a:pathLst>
                <a:path h="6443980" w="7359015">
                  <a:moveTo>
                    <a:pt x="19050" y="0"/>
                  </a:moveTo>
                  <a:lnTo>
                    <a:pt x="7339965" y="0"/>
                  </a:lnTo>
                  <a:cubicBezTo>
                    <a:pt x="7350506" y="0"/>
                    <a:pt x="7359015" y="8509"/>
                    <a:pt x="7359015" y="19050"/>
                  </a:cubicBezTo>
                  <a:lnTo>
                    <a:pt x="7359015" y="6424930"/>
                  </a:lnTo>
                  <a:cubicBezTo>
                    <a:pt x="7359015" y="6435471"/>
                    <a:pt x="7350506" y="6443980"/>
                    <a:pt x="7339965" y="6443980"/>
                  </a:cubicBezTo>
                  <a:lnTo>
                    <a:pt x="19050" y="6443980"/>
                  </a:lnTo>
                  <a:cubicBezTo>
                    <a:pt x="8509" y="6443980"/>
                    <a:pt x="0" y="6435471"/>
                    <a:pt x="0" y="6424930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6424930"/>
                  </a:lnTo>
                  <a:lnTo>
                    <a:pt x="19050" y="6424930"/>
                  </a:lnTo>
                  <a:lnTo>
                    <a:pt x="19050" y="6405880"/>
                  </a:lnTo>
                  <a:lnTo>
                    <a:pt x="7339965" y="6405880"/>
                  </a:lnTo>
                  <a:lnTo>
                    <a:pt x="7339965" y="6424930"/>
                  </a:lnTo>
                  <a:lnTo>
                    <a:pt x="7320915" y="6424930"/>
                  </a:lnTo>
                  <a:lnTo>
                    <a:pt x="7320915" y="19050"/>
                  </a:lnTo>
                  <a:lnTo>
                    <a:pt x="7339965" y="19050"/>
                  </a:lnTo>
                  <a:lnTo>
                    <a:pt x="7339965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83675" y="948319"/>
            <a:ext cx="1491651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1B2A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 1: Code Coverage (Branch Coverage)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7773" y="2039179"/>
            <a:ext cx="1670099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1"/>
              </a:lnSpc>
            </a:pPr>
            <a:r>
              <a:rPr lang="en-US" sz="2151">
                <a:solidFill>
                  <a:srgbClr val="6B7A8D"/>
                </a:solidFill>
                <a:latin typeface="Calibri (MS)"/>
                <a:ea typeface="Calibri (MS)"/>
                <a:cs typeface="Calibri (MS)"/>
                <a:sym typeface="Calibri (MS)"/>
              </a:rPr>
              <a:t>ChatAFL achieves higher branch coverage than AFLNet across all tested servers. More branches covered = more code tested = more bugs found.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49842" y="9763115"/>
            <a:ext cx="915257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4A5A6A"/>
                </a:solidFill>
                <a:latin typeface="Calibri (MS)"/>
                <a:ea typeface="Calibri (MS)"/>
                <a:cs typeface="Calibri (MS)"/>
                <a:sym typeface="Calibri (MS)"/>
              </a:rPr>
              <a:t>12 / 17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948319"/>
            <a:ext cx="14916512" cy="88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1B2A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 2: State Coverage (Protocol States)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7773" y="2029654"/>
            <a:ext cx="16700992" cy="64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i="true">
                <a:solidFill>
                  <a:srgbClr val="6B7A8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ChatAFL discovers more unique protocol states — meaning it exercises more distinct server behaviours and has a higher chance of finding state-specific vulnerabilities.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7773" y="8820179"/>
            <a:ext cx="16700992" cy="52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00C9A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State coverage shows ChatAFL's LLM-guided stall-breaking enables it to explore deeper server logic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49842" y="9763115"/>
            <a:ext cx="915257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4A5A6A"/>
                </a:solidFill>
                <a:latin typeface="Calibri (MS)"/>
                <a:ea typeface="Calibri (MS)"/>
                <a:cs typeface="Calibri (MS)"/>
                <a:sym typeface="Calibri (MS)"/>
              </a:rPr>
              <a:t>13 / 17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08664" y="3347454"/>
            <a:ext cx="15191524" cy="5291902"/>
            <a:chOff x="0" y="0"/>
            <a:chExt cx="22176511" cy="7725092"/>
          </a:xfrm>
        </p:grpSpPr>
        <p:sp>
          <p:nvSpPr>
            <p:cNvPr name="Freeform 9" id="9"/>
            <p:cNvSpPr/>
            <p:nvPr/>
          </p:nvSpPr>
          <p:spPr>
            <a:xfrm flipH="false" flipV="false" rot="-5463075">
              <a:off x="7042652" y="-7256324"/>
              <a:ext cx="8091105" cy="22237677"/>
            </a:xfrm>
            <a:custGeom>
              <a:avLst/>
              <a:gdLst/>
              <a:ahLst/>
              <a:cxnLst/>
              <a:rect r="r" b="b" t="t" l="l"/>
              <a:pathLst>
                <a:path h="22237677" w="8091105">
                  <a:moveTo>
                    <a:pt x="8091106" y="141030"/>
                  </a:moveTo>
                  <a:lnTo>
                    <a:pt x="7685636" y="22237677"/>
                  </a:lnTo>
                  <a:lnTo>
                    <a:pt x="0" y="22096647"/>
                  </a:lnTo>
                  <a:lnTo>
                    <a:pt x="405470" y="0"/>
                  </a:lnTo>
                  <a:close/>
                </a:path>
              </a:pathLst>
            </a:custGeom>
            <a:blipFill>
              <a:blip r:embed="rId2"/>
              <a:stretch>
                <a:fillRect l="0" t="-17613" r="0" b="-17613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76409" cy="7725029"/>
            </a:xfrm>
            <a:custGeom>
              <a:avLst/>
              <a:gdLst/>
              <a:ahLst/>
              <a:cxnLst/>
              <a:rect r="r" b="b" t="t" l="l"/>
              <a:pathLst>
                <a:path h="7725029" w="22176409">
                  <a:moveTo>
                    <a:pt x="38022" y="0"/>
                  </a:moveTo>
                  <a:lnTo>
                    <a:pt x="22138388" y="0"/>
                  </a:lnTo>
                  <a:cubicBezTo>
                    <a:pt x="22159427" y="0"/>
                    <a:pt x="22176409" y="8509"/>
                    <a:pt x="22176409" y="19050"/>
                  </a:cubicBezTo>
                  <a:lnTo>
                    <a:pt x="22176409" y="7705979"/>
                  </a:lnTo>
                  <a:cubicBezTo>
                    <a:pt x="22176409" y="7716520"/>
                    <a:pt x="22159427" y="7725029"/>
                    <a:pt x="22138388" y="7725029"/>
                  </a:cubicBezTo>
                  <a:lnTo>
                    <a:pt x="38022" y="7725029"/>
                  </a:lnTo>
                  <a:cubicBezTo>
                    <a:pt x="16983" y="7725029"/>
                    <a:pt x="0" y="7716520"/>
                    <a:pt x="0" y="7705979"/>
                  </a:cubicBezTo>
                  <a:lnTo>
                    <a:pt x="0" y="19050"/>
                  </a:lnTo>
                  <a:cubicBezTo>
                    <a:pt x="0" y="8509"/>
                    <a:pt x="16983" y="0"/>
                    <a:pt x="38022" y="0"/>
                  </a:cubicBezTo>
                  <a:moveTo>
                    <a:pt x="38022" y="38100"/>
                  </a:moveTo>
                  <a:lnTo>
                    <a:pt x="38022" y="19050"/>
                  </a:lnTo>
                  <a:lnTo>
                    <a:pt x="76044" y="19050"/>
                  </a:lnTo>
                  <a:lnTo>
                    <a:pt x="76044" y="7705979"/>
                  </a:lnTo>
                  <a:lnTo>
                    <a:pt x="38022" y="7705979"/>
                  </a:lnTo>
                  <a:lnTo>
                    <a:pt x="38022" y="7686929"/>
                  </a:lnTo>
                  <a:lnTo>
                    <a:pt x="22138388" y="7686929"/>
                  </a:lnTo>
                  <a:lnTo>
                    <a:pt x="22138388" y="7705979"/>
                  </a:lnTo>
                  <a:lnTo>
                    <a:pt x="22100366" y="7705979"/>
                  </a:lnTo>
                  <a:lnTo>
                    <a:pt x="22100366" y="19050"/>
                  </a:lnTo>
                  <a:lnTo>
                    <a:pt x="22138388" y="19050"/>
                  </a:lnTo>
                  <a:lnTo>
                    <a:pt x="22138388" y="38100"/>
                  </a:lnTo>
                  <a:lnTo>
                    <a:pt x="38022" y="381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72036" y="2113340"/>
            <a:ext cx="8471964" cy="3501137"/>
            <a:chOff x="0" y="0"/>
            <a:chExt cx="11385550" cy="47052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19050"/>
              <a:ext cx="11347450" cy="4667123"/>
            </a:xfrm>
            <a:custGeom>
              <a:avLst/>
              <a:gdLst/>
              <a:ahLst/>
              <a:cxnLst/>
              <a:rect r="r" b="b" t="t" l="l"/>
              <a:pathLst>
                <a:path h="4667123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4667123"/>
                  </a:lnTo>
                  <a:lnTo>
                    <a:pt x="0" y="4667123"/>
                  </a:lnTo>
                  <a:close/>
                </a:path>
              </a:pathLst>
            </a:custGeom>
            <a:blipFill>
              <a:blip r:embed="rId2"/>
              <a:stretch>
                <a:fillRect l="0" t="-5769" r="0" b="-5769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85550" cy="4705223"/>
            </a:xfrm>
            <a:custGeom>
              <a:avLst/>
              <a:gdLst/>
              <a:ahLst/>
              <a:cxnLst/>
              <a:rect r="r" b="b" t="t" l="l"/>
              <a:pathLst>
                <a:path h="4705223" w="11385550">
                  <a:moveTo>
                    <a:pt x="19050" y="0"/>
                  </a:moveTo>
                  <a:lnTo>
                    <a:pt x="11366500" y="0"/>
                  </a:lnTo>
                  <a:cubicBezTo>
                    <a:pt x="11377041" y="0"/>
                    <a:pt x="11385550" y="8509"/>
                    <a:pt x="11385550" y="19050"/>
                  </a:cubicBezTo>
                  <a:lnTo>
                    <a:pt x="11385550" y="4686173"/>
                  </a:lnTo>
                  <a:cubicBezTo>
                    <a:pt x="11385550" y="4696714"/>
                    <a:pt x="11377041" y="4705223"/>
                    <a:pt x="11366500" y="4705223"/>
                  </a:cubicBezTo>
                  <a:lnTo>
                    <a:pt x="19050" y="4705223"/>
                  </a:lnTo>
                  <a:cubicBezTo>
                    <a:pt x="8509" y="4705223"/>
                    <a:pt x="0" y="4696714"/>
                    <a:pt x="0" y="4686173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4686173"/>
                  </a:lnTo>
                  <a:lnTo>
                    <a:pt x="19050" y="4686173"/>
                  </a:lnTo>
                  <a:lnTo>
                    <a:pt x="19050" y="4667123"/>
                  </a:lnTo>
                  <a:lnTo>
                    <a:pt x="11366500" y="4667123"/>
                  </a:lnTo>
                  <a:lnTo>
                    <a:pt x="11366500" y="4686173"/>
                  </a:lnTo>
                  <a:lnTo>
                    <a:pt x="11347450" y="4686173"/>
                  </a:lnTo>
                  <a:lnTo>
                    <a:pt x="11347450" y="19050"/>
                  </a:lnTo>
                  <a:lnTo>
                    <a:pt x="11366500" y="19050"/>
                  </a:lnTo>
                  <a:lnTo>
                    <a:pt x="1136650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525772" y="2113340"/>
            <a:ext cx="8539162" cy="3528908"/>
            <a:chOff x="0" y="0"/>
            <a:chExt cx="11385550" cy="47052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050" y="19050"/>
              <a:ext cx="11347450" cy="4667123"/>
            </a:xfrm>
            <a:custGeom>
              <a:avLst/>
              <a:gdLst/>
              <a:ahLst/>
              <a:cxnLst/>
              <a:rect r="r" b="b" t="t" l="l"/>
              <a:pathLst>
                <a:path h="4667123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4667123"/>
                  </a:lnTo>
                  <a:lnTo>
                    <a:pt x="0" y="4667123"/>
                  </a:lnTo>
                  <a:close/>
                </a:path>
              </a:pathLst>
            </a:custGeom>
            <a:blipFill>
              <a:blip r:embed="rId3"/>
              <a:stretch>
                <a:fillRect l="-9607" t="0" r="-9607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85550" cy="4705223"/>
            </a:xfrm>
            <a:custGeom>
              <a:avLst/>
              <a:gdLst/>
              <a:ahLst/>
              <a:cxnLst/>
              <a:rect r="r" b="b" t="t" l="l"/>
              <a:pathLst>
                <a:path h="4705223" w="11385550">
                  <a:moveTo>
                    <a:pt x="19050" y="0"/>
                  </a:moveTo>
                  <a:lnTo>
                    <a:pt x="11366500" y="0"/>
                  </a:lnTo>
                  <a:cubicBezTo>
                    <a:pt x="11377041" y="0"/>
                    <a:pt x="11385550" y="8509"/>
                    <a:pt x="11385550" y="19050"/>
                  </a:cubicBezTo>
                  <a:lnTo>
                    <a:pt x="11385550" y="4686173"/>
                  </a:lnTo>
                  <a:cubicBezTo>
                    <a:pt x="11385550" y="4696714"/>
                    <a:pt x="11377041" y="4705223"/>
                    <a:pt x="11366500" y="4705223"/>
                  </a:cubicBezTo>
                  <a:lnTo>
                    <a:pt x="19050" y="4705223"/>
                  </a:lnTo>
                  <a:cubicBezTo>
                    <a:pt x="8509" y="4705223"/>
                    <a:pt x="0" y="4696714"/>
                    <a:pt x="0" y="4686173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4686173"/>
                  </a:lnTo>
                  <a:lnTo>
                    <a:pt x="19050" y="4686173"/>
                  </a:lnTo>
                  <a:lnTo>
                    <a:pt x="19050" y="4667123"/>
                  </a:lnTo>
                  <a:lnTo>
                    <a:pt x="11366500" y="4667123"/>
                  </a:lnTo>
                  <a:lnTo>
                    <a:pt x="11366500" y="4686173"/>
                  </a:lnTo>
                  <a:lnTo>
                    <a:pt x="11347450" y="4686173"/>
                  </a:lnTo>
                  <a:lnTo>
                    <a:pt x="11347450" y="19050"/>
                  </a:lnTo>
                  <a:lnTo>
                    <a:pt x="11366500" y="19050"/>
                  </a:lnTo>
                  <a:lnTo>
                    <a:pt x="1136650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72036" y="5888193"/>
            <a:ext cx="8539162" cy="3528908"/>
            <a:chOff x="0" y="0"/>
            <a:chExt cx="11385550" cy="47052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9050" y="19050"/>
              <a:ext cx="11347450" cy="4667123"/>
            </a:xfrm>
            <a:custGeom>
              <a:avLst/>
              <a:gdLst/>
              <a:ahLst/>
              <a:cxnLst/>
              <a:rect r="r" b="b" t="t" l="l"/>
              <a:pathLst>
                <a:path h="4667123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4667123"/>
                  </a:lnTo>
                  <a:lnTo>
                    <a:pt x="0" y="4667123"/>
                  </a:lnTo>
                  <a:close/>
                </a:path>
              </a:pathLst>
            </a:custGeom>
            <a:blipFill>
              <a:blip r:embed="rId4"/>
              <a:stretch>
                <a:fillRect l="0" t="-787" r="0" b="-787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85550" cy="4705223"/>
            </a:xfrm>
            <a:custGeom>
              <a:avLst/>
              <a:gdLst/>
              <a:ahLst/>
              <a:cxnLst/>
              <a:rect r="r" b="b" t="t" l="l"/>
              <a:pathLst>
                <a:path h="4705223" w="11385550">
                  <a:moveTo>
                    <a:pt x="19050" y="0"/>
                  </a:moveTo>
                  <a:lnTo>
                    <a:pt x="11366500" y="0"/>
                  </a:lnTo>
                  <a:cubicBezTo>
                    <a:pt x="11377041" y="0"/>
                    <a:pt x="11385550" y="8509"/>
                    <a:pt x="11385550" y="19050"/>
                  </a:cubicBezTo>
                  <a:lnTo>
                    <a:pt x="11385550" y="4686173"/>
                  </a:lnTo>
                  <a:cubicBezTo>
                    <a:pt x="11385550" y="4696714"/>
                    <a:pt x="11377041" y="4705223"/>
                    <a:pt x="11366500" y="4705223"/>
                  </a:cubicBezTo>
                  <a:lnTo>
                    <a:pt x="19050" y="4705223"/>
                  </a:lnTo>
                  <a:cubicBezTo>
                    <a:pt x="8509" y="4705223"/>
                    <a:pt x="0" y="4696714"/>
                    <a:pt x="0" y="4686173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4686173"/>
                  </a:lnTo>
                  <a:lnTo>
                    <a:pt x="19050" y="4686173"/>
                  </a:lnTo>
                  <a:lnTo>
                    <a:pt x="19050" y="4667123"/>
                  </a:lnTo>
                  <a:lnTo>
                    <a:pt x="11366500" y="4667123"/>
                  </a:lnTo>
                  <a:lnTo>
                    <a:pt x="11366500" y="4686173"/>
                  </a:lnTo>
                  <a:lnTo>
                    <a:pt x="11347450" y="4686173"/>
                  </a:lnTo>
                  <a:lnTo>
                    <a:pt x="11347450" y="19050"/>
                  </a:lnTo>
                  <a:lnTo>
                    <a:pt x="11366500" y="19050"/>
                  </a:lnTo>
                  <a:lnTo>
                    <a:pt x="1136650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525772" y="5888193"/>
            <a:ext cx="8539162" cy="3528908"/>
            <a:chOff x="0" y="0"/>
            <a:chExt cx="11385550" cy="47052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9050" y="19050"/>
              <a:ext cx="11347450" cy="4667123"/>
            </a:xfrm>
            <a:custGeom>
              <a:avLst/>
              <a:gdLst/>
              <a:ahLst/>
              <a:cxnLst/>
              <a:rect r="r" b="b" t="t" l="l"/>
              <a:pathLst>
                <a:path h="4667123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4667123"/>
                  </a:lnTo>
                  <a:lnTo>
                    <a:pt x="0" y="4667123"/>
                  </a:lnTo>
                  <a:close/>
                </a:path>
              </a:pathLst>
            </a:custGeom>
            <a:blipFill>
              <a:blip r:embed="rId5"/>
              <a:stretch>
                <a:fillRect l="-11575" t="0" r="-11575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385550" cy="4705223"/>
            </a:xfrm>
            <a:custGeom>
              <a:avLst/>
              <a:gdLst/>
              <a:ahLst/>
              <a:cxnLst/>
              <a:rect r="r" b="b" t="t" l="l"/>
              <a:pathLst>
                <a:path h="4705223" w="11385550">
                  <a:moveTo>
                    <a:pt x="19050" y="0"/>
                  </a:moveTo>
                  <a:lnTo>
                    <a:pt x="11366500" y="0"/>
                  </a:lnTo>
                  <a:cubicBezTo>
                    <a:pt x="11377041" y="0"/>
                    <a:pt x="11385550" y="8509"/>
                    <a:pt x="11385550" y="19050"/>
                  </a:cubicBezTo>
                  <a:lnTo>
                    <a:pt x="11385550" y="4686173"/>
                  </a:lnTo>
                  <a:cubicBezTo>
                    <a:pt x="11385550" y="4696714"/>
                    <a:pt x="11377041" y="4705223"/>
                    <a:pt x="11366500" y="4705223"/>
                  </a:cubicBezTo>
                  <a:lnTo>
                    <a:pt x="19050" y="4705223"/>
                  </a:lnTo>
                  <a:cubicBezTo>
                    <a:pt x="8509" y="4705223"/>
                    <a:pt x="0" y="4696714"/>
                    <a:pt x="0" y="4686173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4686173"/>
                  </a:lnTo>
                  <a:lnTo>
                    <a:pt x="19050" y="4686173"/>
                  </a:lnTo>
                  <a:lnTo>
                    <a:pt x="19050" y="4667123"/>
                  </a:lnTo>
                  <a:lnTo>
                    <a:pt x="11366500" y="4667123"/>
                  </a:lnTo>
                  <a:lnTo>
                    <a:pt x="11366500" y="4686173"/>
                  </a:lnTo>
                  <a:lnTo>
                    <a:pt x="11347450" y="4686173"/>
                  </a:lnTo>
                  <a:lnTo>
                    <a:pt x="11347450" y="19050"/>
                  </a:lnTo>
                  <a:lnTo>
                    <a:pt x="11366500" y="19050"/>
                  </a:lnTo>
                  <a:lnTo>
                    <a:pt x="1136650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B0BECC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83675" y="957844"/>
            <a:ext cx="1491651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4"/>
              </a:lnSpc>
            </a:pPr>
            <a:r>
              <a:rPr lang="en-US" sz="4403" b="true">
                <a:solidFill>
                  <a:srgbClr val="1B2A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Execution</a:t>
            </a:r>
            <a:r>
              <a:rPr lang="en-US" sz="4403" b="true">
                <a:solidFill>
                  <a:srgbClr val="1B2A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&amp; Screenshots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249842" y="9763115"/>
            <a:ext cx="915257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4A5A6A"/>
                </a:solidFill>
                <a:latin typeface="Calibri (MS)"/>
                <a:ea typeface="Calibri (MS)"/>
                <a:cs typeface="Calibri (MS)"/>
                <a:sym typeface="Calibri (MS)"/>
              </a:rPr>
              <a:t>15 / 17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F1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97725" cy="1853108"/>
            <a:chOff x="0" y="0"/>
            <a:chExt cx="24396967" cy="24708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954" cy="2470785"/>
            </a:xfrm>
            <a:custGeom>
              <a:avLst/>
              <a:gdLst/>
              <a:ahLst/>
              <a:cxnLst/>
              <a:rect r="r" b="b" t="t" l="l"/>
              <a:pathLst>
                <a:path h="247078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1A2F4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46411" y="343224"/>
            <a:ext cx="16289188" cy="98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Findings &amp; Conclusion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86333" y="2059010"/>
            <a:ext cx="16883872" cy="1715843"/>
            <a:chOff x="0" y="0"/>
            <a:chExt cx="22511830" cy="22877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11765" cy="2287778"/>
            </a:xfrm>
            <a:custGeom>
              <a:avLst/>
              <a:gdLst/>
              <a:ahLst/>
              <a:cxnLst/>
              <a:rect r="r" b="b" t="t" l="l"/>
              <a:pathLst>
                <a:path h="2287778" w="22511765">
                  <a:moveTo>
                    <a:pt x="0" y="0"/>
                  </a:moveTo>
                  <a:lnTo>
                    <a:pt x="22511765" y="0"/>
                  </a:lnTo>
                  <a:lnTo>
                    <a:pt x="22511765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1A2F4A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2150450" y="2258806"/>
            <a:ext cx="5307806" cy="52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0C9A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LLMs Know Protocols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50450" y="2862777"/>
            <a:ext cx="14779247" cy="77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C0D4E8"/>
                </a:solidFill>
                <a:latin typeface="Calibri (MS)"/>
                <a:ea typeface="Calibri (MS)"/>
                <a:cs typeface="Calibri (MS)"/>
                <a:sym typeface="Calibri (MS)"/>
              </a:rPr>
              <a:t>Pre-trained LLMs carry deep knowledge of protocol specifications from RFC documents, source code, and technical writing — making them powerful guides for protocol fuzzers.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86333" y="4008206"/>
            <a:ext cx="16883872" cy="1715843"/>
            <a:chOff x="0" y="0"/>
            <a:chExt cx="22511830" cy="22877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511765" cy="2287778"/>
            </a:xfrm>
            <a:custGeom>
              <a:avLst/>
              <a:gdLst/>
              <a:ahLst/>
              <a:cxnLst/>
              <a:rect r="r" b="b" t="t" l="l"/>
              <a:pathLst>
                <a:path h="2287778" w="22511765">
                  <a:moveTo>
                    <a:pt x="0" y="0"/>
                  </a:moveTo>
                  <a:lnTo>
                    <a:pt x="22511765" y="0"/>
                  </a:lnTo>
                  <a:lnTo>
                    <a:pt x="22511765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1A2F4A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150450" y="4208002"/>
            <a:ext cx="5307806" cy="52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b="true" sz="2401">
                <a:solidFill>
                  <a:srgbClr val="00C9A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Three Synergistic Strategies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50450" y="4811973"/>
            <a:ext cx="14779247" cy="77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C0D4E8"/>
                </a:solidFill>
                <a:latin typeface="Calibri (MS)"/>
                <a:ea typeface="Calibri (MS)"/>
                <a:cs typeface="Calibri (MS)"/>
                <a:sym typeface="Calibri (MS)"/>
              </a:rPr>
              <a:t>Grammar extraction + seed enrichment + stall-breaking each contribute independently to improved coverage. Removing any one strategy reduces the tool's effectiveness.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86333" y="5957402"/>
            <a:ext cx="16883872" cy="1715843"/>
            <a:chOff x="0" y="0"/>
            <a:chExt cx="22511830" cy="22877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511765" cy="2287778"/>
            </a:xfrm>
            <a:custGeom>
              <a:avLst/>
              <a:gdLst/>
              <a:ahLst/>
              <a:cxnLst/>
              <a:rect r="r" b="b" t="t" l="l"/>
              <a:pathLst>
                <a:path h="2287778" w="22511765">
                  <a:moveTo>
                    <a:pt x="0" y="0"/>
                  </a:moveTo>
                  <a:lnTo>
                    <a:pt x="22511765" y="0"/>
                  </a:lnTo>
                  <a:lnTo>
                    <a:pt x="22511765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1A2F4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150450" y="6157189"/>
            <a:ext cx="5307806" cy="52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b="true" sz="2401">
                <a:solidFill>
                  <a:srgbClr val="00C9A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Significant Coverage Gains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50450" y="6761169"/>
            <a:ext cx="14779247" cy="77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C0D4E8"/>
                </a:solidFill>
                <a:latin typeface="Calibri (MS)"/>
                <a:ea typeface="Calibri (MS)"/>
                <a:cs typeface="Calibri (MS)"/>
                <a:sym typeface="Calibri (MS)"/>
              </a:rPr>
              <a:t>ChatAFL consistently achieves higher code coverage and state coverage than AFLNet baseline, reaching the same coverage levels faster and exploring deeper server logic.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86333" y="7906598"/>
            <a:ext cx="16883872" cy="1715843"/>
            <a:chOff x="0" y="0"/>
            <a:chExt cx="22511830" cy="22877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511765" cy="2287778"/>
            </a:xfrm>
            <a:custGeom>
              <a:avLst/>
              <a:gdLst/>
              <a:ahLst/>
              <a:cxnLst/>
              <a:rect r="r" b="b" t="t" l="l"/>
              <a:pathLst>
                <a:path h="2287778" w="22511765">
                  <a:moveTo>
                    <a:pt x="0" y="0"/>
                  </a:moveTo>
                  <a:lnTo>
                    <a:pt x="22511765" y="0"/>
                  </a:lnTo>
                  <a:lnTo>
                    <a:pt x="22511765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1A2F4A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150450" y="8106385"/>
            <a:ext cx="5307806" cy="52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b="true" sz="2401">
                <a:solidFill>
                  <a:srgbClr val="00C9A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Practical &amp; Reproducible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50450" y="8710365"/>
            <a:ext cx="14779247" cy="77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C0D4E8"/>
                </a:solidFill>
                <a:latin typeface="Calibri (MS)"/>
                <a:ea typeface="Calibri (MS)"/>
                <a:cs typeface="Calibri (MS)"/>
                <a:sym typeface="Calibri (MS)"/>
              </a:rPr>
              <a:t>The tool runs in Docker with well-defined benchmarks. Free alternatives (Groq) can replace paid OpenAI credits with minimal code changes, making research reproducible for students.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249842" y="9763115"/>
            <a:ext cx="915257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4A5A6A"/>
                </a:solidFill>
                <a:latin typeface="Calibri (MS)"/>
                <a:ea typeface="Calibri (MS)"/>
                <a:cs typeface="Calibri (MS)"/>
                <a:sym typeface="Calibri (MS)"/>
              </a:rPr>
              <a:t>16 / 17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92499" y="4100512"/>
            <a:ext cx="7503001" cy="238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58"/>
              </a:lnSpc>
              <a:spcBef>
                <a:spcPct val="0"/>
              </a:spcBef>
            </a:pPr>
            <a:r>
              <a:rPr lang="en-US" b="true" sz="137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DAHJG3gQmq0</dc:identifier>
  <dcterms:modified xsi:type="dcterms:W3CDTF">2011-08-01T06:04:30Z</dcterms:modified>
  <cp:revision>1</cp:revision>
  <dc:title>ChatAFL_Presentation.pptx</dc:title>
</cp:coreProperties>
</file>